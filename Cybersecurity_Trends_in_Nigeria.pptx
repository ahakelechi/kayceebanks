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31C"/>
                </a:solidFill>
                <a:latin typeface="Calibri"/>
              </a:defRPr>
            </a:pPr>
            <a:r>
              <a:rPr sz="1300" b="0" i="0" u="none" strike="noStrike">
                <a:solidFill>
                  <a:srgbClr val="17231C"/>
                </a:solidFill>
                <a:latin typeface="Calibri"/>
              </a:rPr>
              <a:t>Digital Payment Fraud Losses (₦bn)</a:t>
            </a:r>
          </a:p>
        </c:rich>
      </c:tx>
      <c:layout/>
      <c:overlay val="0"/>
    </c:title>
    <c:autoTitleDeleted val="0"/>
    <c:plotArea>
      <c:layout/>
      <c:barChart>
        <c:barDir val="col"/>
        <c:grouping val="clustered"/>
        <c:varyColors val="0"/>
        <c:ser>
          <c:idx val="0"/>
          <c:order val="0"/>
          <c:tx>
            <c:strRef>
              <c:f>Sheet1!$B$1</c:f>
              <c:strCache>
                <c:ptCount val="1"/>
                <c:pt idx="0">
                  <c:v>Digital payment fraud losses (₦ billion)</c:v>
                </c:pt>
              </c:strCache>
            </c:strRef>
          </c:tx>
          <c:spPr>
            <a:solidFill>
              <a:srgbClr val="0B5E34"/>
            </a:solidFill>
            <a:effectLst/>
          </c:spPr>
          <c:invertIfNegative val="0"/>
          <c:dLbls>
            <c:numFmt formatCode="#,##0.00" sourceLinked="0"/>
            <c:txPr>
              <a:bodyPr/>
              <a:lstStyle/>
              <a:p>
                <a:pPr>
                  <a:defRPr b="0" i="0" strike="noStrike" sz="1300" u="none">
                    <a:solidFill>
                      <a:srgbClr val="17231C"/>
                    </a:solidFill>
                    <a:latin typeface="Arial"/>
                  </a:defRPr>
                </a:pPr>
              </a:p>
            </c:txPr>
            <c:showLegendKey val="0"/>
            <c:showVal val="1"/>
            <c:showCatName val="0"/>
            <c:showSerName val="0"/>
            <c:showPercent val="0"/>
            <c:showBubbleSize val="0"/>
            <c:showLeaderLines val="0"/>
          </c:dLbls>
          <c:dPt>
            <c:idx val="0"/>
            <c:invertIfNegative val="0"/>
            <c:bubble3D val="0"/>
            <c:spPr>
              <a:solidFill>
                <a:srgbClr val="0B5E34"/>
              </a:solidFill>
              <a:effectLst/>
            </c:spPr>
          </c:dPt>
          <c:dPt>
            <c:idx val="1"/>
            <c:invertIfNegative val="0"/>
            <c:bubble3D val="0"/>
            <c:spPr>
              <a:solidFill>
                <a:srgbClr val="E8A93A"/>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52.26</c:v>
                </c:pt>
                <c:pt idx="1">
                  <c:v>25.85</c:v>
                </c:pt>
              </c:numCache>
            </c:numRef>
          </c:val>
        </c:ser>
        <c:dLbls>
          <c:numFmt formatCode="#,##0.00" sourceLinked="0"/>
          <c:txPr>
            <a:bodyPr/>
            <a:lstStyle/>
            <a:p>
              <a:pPr>
                <a:defRPr b="0" i="0" strike="noStrike" sz="1300" u="none">
                  <a:solidFill>
                    <a:srgbClr val="17231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E6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7231C"/>
                </a:solidFill>
                <a:latin typeface="Calibri"/>
              </a:defRPr>
            </a:pPr>
            <a:r>
              <a:rPr sz="1250" b="0" i="0" u="none" strike="noStrike">
                <a:solidFill>
                  <a:srgbClr val="17231C"/>
                </a:solidFill>
                <a:latin typeface="Calibri"/>
              </a:rPr>
              <a:t>Share of Reported African Cybercrime Incidents</a:t>
            </a:r>
          </a:p>
        </c:rich>
      </c:tx>
      <c:layout/>
      <c:overlay val="0"/>
    </c:title>
    <c:autoTitleDeleted val="0"/>
    <c:plotArea>
      <c:layout/>
      <c:doughnutChart>
        <c:varyColors val="1"/>
        <c:ser>
          <c:idx val="0"/>
          <c:order val="0"/>
          <c:tx>
            <c:strRef>
              <c:f>Sheet1!$B$1</c:f>
              <c:strCache>
                <c:ptCount val="1"/>
                <c:pt idx="0">
                  <c:v>Share of African cybercrime incidents</c:v>
                </c:pt>
              </c:strCache>
            </c:strRef>
          </c:tx>
          <c:spPr>
            <a:solidFill>
              <a:schemeClr val="accent1"/>
            </a:solidFill>
            <a:ln w="9525" cap="flat">
              <a:solidFill>
                <a:srgbClr val="F9F9F9"/>
              </a:solidFill>
              <a:prstDash val="solid"/>
              <a:round/>
            </a:ln>
            <a:effectLst/>
          </c:spPr>
          <c:dPt>
            <c:idx val="0"/>
            <c:bubble3D val="0"/>
            <c:spPr>
              <a:solidFill>
                <a:srgbClr val="E8A93A"/>
              </a:solidFill>
              <a:ln w="25400" cap="flat">
                <a:solidFill>
                  <a:srgbClr val="FFFFFF"/>
                </a:solidFill>
                <a:prstDash val="solid"/>
                <a:round/>
              </a:ln>
              <a:effectLst/>
            </c:spPr>
          </c:dPt>
          <c:dPt>
            <c:idx val="1"/>
            <c:bubble3D val="0"/>
            <c:spPr>
              <a:solidFill>
                <a:srgbClr val="0B5E34"/>
              </a:solidFill>
              <a:ln w="25400" cap="flat">
                <a:solidFill>
                  <a:srgbClr val="FFFFFF"/>
                </a:solidFill>
                <a:prstDash val="solid"/>
                <a:round/>
              </a:ln>
              <a:effectLst/>
            </c:spPr>
          </c:dPt>
          <c:dLbls>
            <c:dLbl>
              <c:idx val="0"/>
              <c:numFmt formatCode="0&quot;%&quot;" sourceLinked="0"/>
              <c:spPr/>
              <c:txPr>
                <a:bodyPr/>
                <a:lstStyle/>
                <a:p>
                  <a:pPr>
                    <a:defRPr sz="1400" b="0" i="0" u="none" strike="noStrike">
                      <a:solidFill>
                        <a:srgbClr val="FFFFFF"/>
                      </a:solidFill>
                      <a:latin typeface="Calibri"/>
                    </a:defRPr>
                  </a:pPr>
                </a:p>
              </c:txPr>
              <c:showLegendKey val="0"/>
              <c:showVal val="1"/>
              <c:showCatName val="0"/>
              <c:showSerName val="0"/>
              <c:showPercent val="0"/>
              <c:showBubbleSize val="0"/>
            </c:dLbl>
            <c:dLbl>
              <c:idx val="1"/>
              <c:numFmt formatCode="0&quot;%&quot;" sourceLinked="0"/>
              <c:spPr/>
              <c:txPr>
                <a:bodyPr/>
                <a:lstStyle/>
                <a:p>
                  <a:pPr>
                    <a:defRPr sz="1400" b="0" i="0" u="none" strike="noStrike">
                      <a:solidFill>
                        <a:srgbClr val="FFFFFF"/>
                      </a:solidFill>
                      <a:latin typeface="Calibri"/>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Nigeria</c:v>
                </c:pt>
                <c:pt idx="1">
                  <c:v>Rest of Africa</c:v>
                </c:pt>
              </c:strCache>
            </c:strRef>
          </c:cat>
          <c:val>
            <c:numRef>
              <c:f>Sheet1!$B$2:$B$3</c:f>
              <c:numCache>
                <c:ptCount val="2"/>
                <c:pt idx="0">
                  <c:v>45</c:v>
                </c:pt>
                <c:pt idx="1">
                  <c:v>55</c:v>
                </c:pt>
              </c:numCache>
            </c:numRef>
          </c:val>
        </c:ser>
        <c:firstSliceAng val="0"/>
        <c:holeSize val="55"/>
      </c:doughnutChart>
      <c:spPr>
        <a:noFill/>
        <a:ln>
          <a:noFill/>
        </a:ln>
        <a:effectLst/>
      </c:spPr>
    </c:plotArea>
    <c:legend>
      <c:legendPos val="b"/>
      <c:overlay val="0"/>
      <c:txPr>
        <a:bodyPr/>
        <a:lstStyle/>
        <a:p>
          <a:pPr>
            <a:defRPr sz="1200">
              <a:solidFill>
                <a:srgbClr val="5E6E66"/>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7231C"/>
                </a:solidFill>
                <a:latin typeface="Calibri"/>
              </a:defRPr>
            </a:pPr>
            <a:r>
              <a:rPr sz="1300" b="0" i="0" u="none" strike="noStrike">
                <a:solidFill>
                  <a:srgbClr val="17231C"/>
                </a:solidFill>
                <a:latin typeface="Calibri"/>
              </a:rPr>
              <a:t>Cybersecurity Professionals in Nigeria</a:t>
            </a:r>
          </a:p>
        </c:rich>
      </c:tx>
      <c:layout/>
      <c:overlay val="0"/>
    </c:title>
    <c:autoTitleDeleted val="0"/>
    <c:plotArea>
      <c:layout/>
      <c:barChart>
        <c:barDir val="col"/>
        <c:grouping val="clustered"/>
        <c:varyColors val="0"/>
        <c:ser>
          <c:idx val="0"/>
          <c:order val="0"/>
          <c:tx>
            <c:strRef>
              <c:f>Sheet1!$B$1</c:f>
              <c:strCache>
                <c:ptCount val="1"/>
                <c:pt idx="0">
                  <c:v>Cybersecurity professionals</c:v>
                </c:pt>
              </c:strCache>
            </c:strRef>
          </c:tx>
          <c:spPr>
            <a:solidFill>
              <a:srgbClr val="0B5E34"/>
            </a:solidFill>
            <a:effectLst/>
          </c:spPr>
          <c:invertIfNegative val="0"/>
          <c:dLbls>
            <c:numFmt formatCode="#,##0" sourceLinked="0"/>
            <c:txPr>
              <a:bodyPr/>
              <a:lstStyle/>
              <a:p>
                <a:pPr>
                  <a:defRPr b="0" i="0" strike="noStrike" sz="1250" u="none">
                    <a:solidFill>
                      <a:srgbClr val="17231C"/>
                    </a:solidFill>
                    <a:latin typeface="Arial"/>
                  </a:defRPr>
                </a:pPr>
              </a:p>
            </c:txPr>
            <c:showLegendKey val="0"/>
            <c:showVal val="1"/>
            <c:showCatName val="0"/>
            <c:showSerName val="0"/>
            <c:showPercent val="0"/>
            <c:showBubbleSize val="0"/>
            <c:showLeaderLines val="0"/>
          </c:dLbls>
          <c:dPt>
            <c:idx val="0"/>
            <c:invertIfNegative val="0"/>
            <c:bubble3D val="0"/>
            <c:spPr>
              <a:solidFill>
                <a:srgbClr val="0B5E34"/>
              </a:solidFill>
              <a:effectLst/>
            </c:spPr>
          </c:dPt>
          <c:dPt>
            <c:idx val="1"/>
            <c:invertIfNegative val="0"/>
            <c:bubble3D val="0"/>
            <c:spPr>
              <a:solidFill>
                <a:srgbClr val="E8A93A"/>
              </a:solidFill>
              <a:effectLst/>
            </c:spPr>
          </c:dPt>
          <c:cat>
            <c:multiLvlStrRef>
              <c:f>Sheet1!$A$2:$A$3</c:f>
              <c:multiLvlStrCache>
                <c:ptCount val="2"/>
                <c:lvl>
                  <c:pt idx="0">
                    <c:v>Currently active</c:v>
                  </c:pt>
                  <c:pt idx="1">
                    <c:v>Needed to meet
global benchmark</c:v>
                  </c:pt>
                </c:lvl>
              </c:multiLvlStrCache>
            </c:multiLvlStrRef>
          </c:cat>
          <c:val>
            <c:numRef>
              <c:f>Sheet1!$B$2:$B$3</c:f>
              <c:numCache>
                <c:formatCode>General</c:formatCode>
                <c:ptCount val="2"/>
                <c:pt idx="0">
                  <c:v>25760</c:v>
                </c:pt>
                <c:pt idx="1">
                  <c:v>275000</c:v>
                </c:pt>
              </c:numCache>
            </c:numRef>
          </c:val>
        </c:ser>
        <c:dLbls>
          <c:numFmt formatCode="#,##0" sourceLinked="0"/>
          <c:txPr>
            <a:bodyPr/>
            <a:lstStyle/>
            <a:p>
              <a:pPr>
                <a:defRPr b="0" i="0" strike="noStrike" sz="1250" u="none">
                  <a:solidFill>
                    <a:srgbClr val="17231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5E6E6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and the purpose: a fast, evidence-based briefing on where Nigeria's cybersecurity landscape stands in 2026 - the threat numbers, a live case study, how regulation is responding, and the talent gap underneath all of it. Set expectations: 15 minutes of material, then 15 minutes open floor for questions and discussion. (~45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quickly - don't linger. Frame it as a funnel: start wide with attack-volume data, narrow into a real incident (the CAC breach), then look at how government and regulators are responding, and end on the workforce constraint that shapes everything else. Close with key takeaways so the Q&amp;A has a clear landing point.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topic deserves a briefing on its own: Nigeria's digital economy has grown explosively - mobile money, e-commerce, banking apps - and that growth has consistently outrun security investment. That gap is the single underlying driver of everything that follows: rising attack volume, costlier fraud, regulatory urgency, and the talent shortage. Keep this frame in mind as the throughline for the whole briefing.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scale. Nigeria logged 1.6 million online attack attempts in the first half of 2026 - that's over 4,700 attacks a week, every week, since the year began. One report even measured a 1,047% surge in breaches in a single quarter. The common thread across all of it is AI: it's cutting the cost and skill required to run a credible attack, so lower-skilled actors can now do damage that used to require real expertise.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counter-intuitive data point in the briefing. Headline losses to digital payment fraud fell almost 50% year over year, and regulators point to BVN-NIN integration and stronger bank controls. But the case count only fell about 31% - so the average successful attack got more expensive. Read that as: opportunistic, low-effort fraud is being filtered out, and what's left is smaller in volume but more organized and more damaging per incident. This is the same pattern regulators are seeing globally, and Nigeria was flagged as part of a wider $20.9bn global cybercrime surge. (~65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out to the regional picture. Nigeria accounts for roughly 45% of reported cybercrime incidents across Africa - making it the continent's single most exposed market. Globally, it ranked 12th among countries filing complaints with the FBI's IC3 in 2025. Estimated losses hit $2.4 billion in just the first ten months of 2024, and 71% of Nigerian organizations say they experienced a ransomware attack in the past year. This isn't a niche problem - it's a national-scale exposure.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nature of the threat is changing. Password-stealer malware detections jumped 66% year-on-year and are still climbing; spyware detections rose 53%, then another 14%. That's a clear signal: attackers have moved away from noisy disruption toward quiet identity theft and financial fraud - it's more profitable and harder to detect. One new tactic worth flagging: criminals are exfiltrating stolen data through legitimate cloud storage platforms like Google Drive or Dropbox, so the traffic looks like normal business activity to network defenses.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incident that defined 2025-2026 for Nigerian cybersecurity. A threat actor calling itself ByteToBreach breached the Corporate Affairs Commission - the registry that records legal ownership of every company in Nigeria - and exfiltrated roughly 25 million files, about 750 gigabytes, leaking 15 million-plus documents. Why it matters beyond the number: banks, courts, and the EFCC all lean on CAC records for due diligence and fraud investigations, so this single breach undermines the country's broader anti-money-laundering push. CAC had to shut its registration portal, and the NDPC opened a formal investigation. The same group also demanded a 250,000-euro ransom from Sterling Bank. The bigger pattern: ByteToBreach isn't encrypting systems for ransom the old way - it's stealing and monetizing data directly, which is becoming the dominant ransomware model. (~70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sectors carry most of the exposure. Banking and fintech face ransomware, credential theft, and payment fraud - the money is the target. Government agencies, especially registries and systems tied to elections, are high-value because of the downstream trust they anchor - the CAC breach is the clearest example. Telecom is exposed through subscriber data and SIM-swap-enabled fraud, which feeds directly into banking fraud. Healthcare is earlier in its exposure curve but rising, with patient data theft and disruption risk. The thread tying all four together: these are organized, targeted campaigns now, not smash-and-grab opportunism.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has caught up fast. The Nigeria Data Protection Act's implementation directive took effect in September 2025, giving the NDPC a clear enforcement framework. In August 2025 the Commission issued compliance notices to 1,368 organizations at once - mostly financial institutions, insurers, gaming companies, and pension firms - with a short window to demonstrate compliance. And the fines are real: Meta was fined $32.8 million in February 2025, and MultiChoice Nigeria was fined ₦766.2 million in July for privacy violations and illegal cross-border data transfers. The message to every organization operating in Nigeria: data protection is no longer a paperwork exercise.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Signed February 2024, this amendment updates Nigeria's original 2015 cybercrime law. Four provisions matter most for organizations: first, a mandatory 72-hour window to report any attack or intrusion to the National CERT. Second, service providers now must retain traffic and subscriber data for two years. Third - and this is the controversial one - security agencies gained expanded power to intercept communications without a court order in urgent situations, which has drawn civil-liberties criticism. Fourth, new offences around cyberstalking and disinformation, plus a cybersecurity levy that adds to the cost of doing business. Net effect: compliance obligations just got a lot more concrete.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strategy side, Nigeria stood up the National Cybersecurity Coordination Centre - the NCCC - unveiled at the 2025 National Cybersecurity Conference themed 'Nigeria's Moment to Lead.' It sits between NITDA and the Office of the National Security Adviser, and it's built around an action plan spanning seven thematic areas from the National Cybersecurity Strategy. The core message coming out of that conference was blunt: no single agency can secure Nigeria's cyberspace alone - this requires genuine multi-agency coordination. There's also a cultural push here, to end the historical pattern of organizations staying quiet about breaches instead of disclosing and responding. (~55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constraint that limits everything else we've discussed. Nigeria has about 25,760 active cybersecurity professionals for a population of over 220 million - one expert for every 8,000 citizens, against a global benchmark of one per 800. NITDA estimates the country needs over 275,000 professionals to close that gap, a 90.6% shortfall. The government's response is the 3 Million Technical Talent programme, aiming to train three million digital professionals by 2027. There's also a market opportunity here - Nigeria's cybersecurity market is projected to grow from about $254 million in 2026 to $415 million by 2031. The takeaway: no amount of new law or tooling outruns a shortage of people who can actually operate it. (~65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takeaways to carry out of this room. One: attacks are more frequent, more automated with AI, and increasingly about stealing identity rather than just disrupting systems. Two: regulation has real teeth now - NDPC fines and the 72-hour reporting rule mean compliance is a genuine operational requirement, not paperwork. Three: critical infrastructure is the top target, and the CAC breach shows how one vulnerability can cascade across an entire economy. Four: the talent shortage is the binding constraint underneath all of this - you can't buy your way out of a people problem. Five: the direction of travel for defense is zero-trust, identity-first security, and real information sharing across sectors. That's the briefing - happy to open it up.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FLOOR - 15 minutes. Use the three seeded prompts if the room is slow to start.
Q: Is Nigeria's cybercrime actually increasing, or is reporting just improving?
A: Both are real. Detection and disclosure have genuinely improved (BVN-NIN integration, NDPC enforcement, the 72-hour reporting rule), which surfaces more incidents than before. But independently, attack volume metrics (1.6M attempts in H1 2026, 4,700+/week) come from network-level blocking data, not self-reporting - so the underlying volume is genuinely rising, not just better counted.
Q: What should a small business do first?
A: Basics still stop most incidents: MFA on all accounts, patch management, offline/immutable backups, and phishing-awareness training for staff, since credential theft is now the dominant attack vector. Then map what personal data you hold, since NDPA compliance obligations apply regardless of company size.
Q: Is the 72-hour breach reporting rule realistic?
A: It's tight for under-resourced organizations, but it mirrors GDPR's 72-hour standard, so multinational and well-resourced firms are already equipped for it. The real risk is under-reporting by smaller firms that lack an incident response plan - which argues for having one ready before an incident, not during.
Q: How does Nigeria compare to other African countries?
A: Nigeria is the most-targeted single market on the continent (~45% of reported African incidents), which tracks its position as the largest digital economy and fintech hub - attackers follow transaction volume. Kenya and South Africa are the next most-referenced markets in workforce and threat reporting.
Q: What's driving fraud losses down while severity per incident goes up?
A: Identity verification controls (BVN-NIN linkage) and bank-side monitoring have raised the cost of casual, high-volume fraud, filtering out low-skill actors. What remains is organized, well-resourced crime willing to invest more per target because the payoff per successful attack is larger - a pattern consistent with the broader shift toward identity-driven, targeted campaigns covered earlier in the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3821"/>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0B5E34"/>
          </a:solidFill>
          <a:ln/>
        </p:spPr>
      </p:sp>
      <p:sp>
        <p:nvSpPr>
          <p:cNvPr id="3" name="Shape 1"/>
          <p:cNvSpPr/>
          <p:nvPr/>
        </p:nvSpPr>
        <p:spPr>
          <a:xfrm>
            <a:off x="10332720" y="-640080"/>
            <a:ext cx="3108960" cy="3108960"/>
          </a:xfrm>
          <a:prstGeom prst="ellipse">
            <a:avLst/>
          </a:prstGeom>
          <a:solidFill>
            <a:srgbClr val="146B47"/>
          </a:solidFill>
          <a:ln/>
        </p:spPr>
      </p:sp>
      <p:sp>
        <p:nvSpPr>
          <p:cNvPr id="4" name="Shape 2"/>
          <p:cNvSpPr/>
          <p:nvPr/>
        </p:nvSpPr>
        <p:spPr>
          <a:xfrm>
            <a:off x="-2011680" y="4206240"/>
            <a:ext cx="4754880" cy="4754880"/>
          </a:xfrm>
          <a:prstGeom prst="ellipse">
            <a:avLst/>
          </a:prstGeom>
          <a:solidFill>
            <a:srgbClr val="0B5E34"/>
          </a:solidFill>
          <a:ln/>
        </p:spPr>
      </p:sp>
      <p:sp>
        <p:nvSpPr>
          <p:cNvPr id="5" name="Shape 3"/>
          <p:cNvSpPr/>
          <p:nvPr/>
        </p:nvSpPr>
        <p:spPr>
          <a:xfrm>
            <a:off x="822960" y="960120"/>
            <a:ext cx="777240" cy="777240"/>
          </a:xfrm>
          <a:prstGeom prst="ellipse">
            <a:avLst/>
          </a:prstGeom>
          <a:solidFill>
            <a:srgbClr val="E8A93A"/>
          </a:solidFill>
          <a:ln/>
        </p:spPr>
      </p:sp>
      <p:pic>
        <p:nvPicPr>
          <p:cNvPr id="6" name="Image 0" descr="preencoded.png">    </p:cNvPr>
          <p:cNvPicPr>
            <a:picLocks noChangeAspect="1"/>
          </p:cNvPicPr>
          <p:nvPr/>
        </p:nvPicPr>
        <p:blipFill>
          <a:blip r:embed="rId1"/>
          <a:stretch>
            <a:fillRect/>
          </a:stretch>
        </p:blipFill>
        <p:spPr>
          <a:xfrm>
            <a:off x="1009498" y="1146658"/>
            <a:ext cx="404165" cy="404165"/>
          </a:xfrm>
          <a:prstGeom prst="rect">
            <a:avLst/>
          </a:prstGeom>
        </p:spPr>
      </p:pic>
      <p:sp>
        <p:nvSpPr>
          <p:cNvPr id="7" name="Text 4"/>
          <p:cNvSpPr/>
          <p:nvPr/>
        </p:nvSpPr>
        <p:spPr>
          <a:xfrm>
            <a:off x="822960" y="1965960"/>
            <a:ext cx="9144000" cy="320040"/>
          </a:xfrm>
          <a:prstGeom prst="rect">
            <a:avLst/>
          </a:prstGeom>
          <a:noFill/>
          <a:ln/>
        </p:spPr>
        <p:txBody>
          <a:bodyPr wrap="square" lIns="0" tIns="0" rIns="0" bIns="0" rtlCol="0" anchor="ctr"/>
          <a:lstStyle/>
          <a:p>
            <a:pPr indent="0" marL="0">
              <a:buNone/>
            </a:pPr>
            <a:r>
              <a:rPr lang="en-US" sz="1300" b="1" spc="200" kern="0" dirty="0">
                <a:solidFill>
                  <a:srgbClr val="E8A93A"/>
                </a:solidFill>
                <a:latin typeface="Calibri" pitchFamily="34" charset="0"/>
                <a:ea typeface="Calibri" pitchFamily="34" charset="-122"/>
                <a:cs typeface="Calibri" pitchFamily="34" charset="-120"/>
              </a:rPr>
              <a:t>CYBERSECURITY BRIEFING · 2026</a:t>
            </a:r>
            <a:endParaRPr lang="en-US" sz="1300" dirty="0"/>
          </a:p>
        </p:txBody>
      </p:sp>
      <p:sp>
        <p:nvSpPr>
          <p:cNvPr id="8" name="Text 5"/>
          <p:cNvSpPr/>
          <p:nvPr/>
        </p:nvSpPr>
        <p:spPr>
          <a:xfrm>
            <a:off x="777240" y="2331720"/>
            <a:ext cx="10058400" cy="1737360"/>
          </a:xfrm>
          <a:prstGeom prst="rect">
            <a:avLst/>
          </a:prstGeom>
          <a:noFill/>
          <a:ln/>
        </p:spPr>
        <p:txBody>
          <a:bodyPr wrap="square" lIns="0" tIns="0" rIns="0" bIns="0" rtlCol="0" anchor="ctr"/>
          <a:lstStyle/>
          <a:p>
            <a:pPr indent="0" marL="0">
              <a:lnSpc>
                <a:spcPts val="5000"/>
              </a:lnSpc>
              <a:buNone/>
            </a:pPr>
            <a:r>
              <a:rPr lang="en-US" sz="4800" b="1" dirty="0">
                <a:solidFill>
                  <a:srgbClr val="FFFFFF"/>
                </a:solidFill>
                <a:latin typeface="Cambria" pitchFamily="34" charset="0"/>
                <a:ea typeface="Cambria" pitchFamily="34" charset="-122"/>
                <a:cs typeface="Cambria" pitchFamily="34" charset="-120"/>
              </a:rPr>
              <a:t>Cybersecurity Trends</a:t>
            </a:r>
            <a:endParaRPr lang="en-US" sz="4800" dirty="0"/>
          </a:p>
          <a:p>
            <a:pPr indent="0" marL="0">
              <a:lnSpc>
                <a:spcPts val="5000"/>
              </a:lnSpc>
              <a:buNone/>
            </a:pPr>
            <a:r>
              <a:rPr lang="en-US" sz="4800" b="1" dirty="0">
                <a:solidFill>
                  <a:srgbClr val="FFFFFF"/>
                </a:solidFill>
                <a:latin typeface="Cambria" pitchFamily="34" charset="0"/>
                <a:ea typeface="Cambria" pitchFamily="34" charset="-122"/>
                <a:cs typeface="Cambria" pitchFamily="34" charset="-120"/>
              </a:rPr>
              <a:t>in Nigeria</a:t>
            </a:r>
            <a:endParaRPr lang="en-US" sz="4800" dirty="0"/>
          </a:p>
        </p:txBody>
      </p:sp>
      <p:sp>
        <p:nvSpPr>
          <p:cNvPr id="9" name="Text 6"/>
          <p:cNvSpPr/>
          <p:nvPr/>
        </p:nvSpPr>
        <p:spPr>
          <a:xfrm>
            <a:off x="822960" y="4160520"/>
            <a:ext cx="7863840" cy="640080"/>
          </a:xfrm>
          <a:prstGeom prst="rect">
            <a:avLst/>
          </a:prstGeom>
          <a:noFill/>
          <a:ln/>
        </p:spPr>
        <p:txBody>
          <a:bodyPr wrap="square" lIns="0" tIns="0" rIns="0" bIns="0" rtlCol="0" anchor="ctr"/>
          <a:lstStyle/>
          <a:p>
            <a:pPr indent="0" marL="0">
              <a:buNone/>
            </a:pPr>
            <a:r>
              <a:rPr lang="en-US" sz="1500" dirty="0">
                <a:solidFill>
                  <a:srgbClr val="CFE3D8"/>
                </a:solidFill>
                <a:latin typeface="Calibri" pitchFamily="34" charset="0"/>
                <a:ea typeface="Calibri" pitchFamily="34" charset="-122"/>
                <a:cs typeface="Calibri" pitchFamily="34" charset="-120"/>
              </a:rPr>
              <a:t>A 2026 briefing on attack trends, major incidents, regulation, and the talent gap shaping Nigeria’s digital economy.</a:t>
            </a:r>
            <a:endParaRPr lang="en-US" sz="1500" dirty="0"/>
          </a:p>
        </p:txBody>
      </p:sp>
      <p:sp>
        <p:nvSpPr>
          <p:cNvPr id="10" name="Shape 7"/>
          <p:cNvSpPr/>
          <p:nvPr/>
        </p:nvSpPr>
        <p:spPr>
          <a:xfrm>
            <a:off x="822960" y="5074920"/>
            <a:ext cx="4206240" cy="566928"/>
          </a:xfrm>
          <a:prstGeom prst="roundRect">
            <a:avLst>
              <a:gd name="adj" fmla="val 50000"/>
            </a:avLst>
          </a:prstGeom>
          <a:solidFill>
            <a:srgbClr val="146B47"/>
          </a:solidFill>
          <a:ln/>
        </p:spPr>
      </p:sp>
      <p:sp>
        <p:nvSpPr>
          <p:cNvPr id="11" name="Text 8"/>
          <p:cNvSpPr/>
          <p:nvPr/>
        </p:nvSpPr>
        <p:spPr>
          <a:xfrm>
            <a:off x="822960" y="5074920"/>
            <a:ext cx="420624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15-MIN PRESENTATION  +  15-MIN Q&amp;A</a:t>
            </a:r>
            <a:endParaRPr lang="en-US" sz="1250" dirty="0"/>
          </a:p>
        </p:txBody>
      </p:sp>
      <p:sp>
        <p:nvSpPr>
          <p:cNvPr id="12" name="Text 9"/>
          <p:cNvSpPr/>
          <p:nvPr/>
        </p:nvSpPr>
        <p:spPr>
          <a:xfrm>
            <a:off x="822960" y="5989320"/>
            <a:ext cx="7315200" cy="320040"/>
          </a:xfrm>
          <a:prstGeom prst="rect">
            <a:avLst/>
          </a:prstGeom>
          <a:noFill/>
          <a:ln/>
        </p:spPr>
        <p:txBody>
          <a:bodyPr wrap="square" lIns="0" tIns="0" rIns="0" bIns="0" rtlCol="0" anchor="ctr"/>
          <a:lstStyle/>
          <a:p>
            <a:pPr indent="0" marL="0">
              <a:buNone/>
            </a:pPr>
            <a:r>
              <a:rPr lang="en-US" sz="1150" i="1" dirty="0">
                <a:solidFill>
                  <a:srgbClr val="9FC2AE"/>
                </a:solidFill>
                <a:latin typeface="Calibri" pitchFamily="34" charset="0"/>
                <a:ea typeface="Calibri" pitchFamily="34" charset="-122"/>
                <a:cs typeface="Calibri" pitchFamily="34" charset="-120"/>
              </a:rPr>
              <a:t>Presented by: [Your Name]   |   [Date / Audience]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AGENDA</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02920" y="1600200"/>
            <a:ext cx="457200" cy="457200"/>
          </a:xfrm>
          <a:prstGeom prst="ellipse">
            <a:avLst/>
          </a:prstGeom>
          <a:solidFill>
            <a:srgbClr val="0B5E34"/>
          </a:solidFill>
          <a:ln/>
        </p:spPr>
      </p:sp>
      <p:pic>
        <p:nvPicPr>
          <p:cNvPr id="5" name="Image 0" descr="preencoded.png">    </p:cNvPr>
          <p:cNvPicPr>
            <a:picLocks noChangeAspect="1"/>
          </p:cNvPicPr>
          <p:nvPr/>
        </p:nvPicPr>
        <p:blipFill>
          <a:blip r:embed="rId1"/>
          <a:stretch>
            <a:fillRect/>
          </a:stretch>
        </p:blipFill>
        <p:spPr>
          <a:xfrm>
            <a:off x="612648" y="1709928"/>
            <a:ext cx="237744" cy="237744"/>
          </a:xfrm>
          <a:prstGeom prst="rect">
            <a:avLst/>
          </a:prstGeom>
        </p:spPr>
      </p:pic>
      <p:sp>
        <p:nvSpPr>
          <p:cNvPr id="6" name="Text 3"/>
          <p:cNvSpPr/>
          <p:nvPr/>
        </p:nvSpPr>
        <p:spPr>
          <a:xfrm>
            <a:off x="1033272" y="1545336"/>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01</a:t>
            </a:r>
            <a:endParaRPr lang="en-US" sz="1400" dirty="0"/>
          </a:p>
        </p:txBody>
      </p:sp>
      <p:sp>
        <p:nvSpPr>
          <p:cNvPr id="7" name="Text 4"/>
          <p:cNvSpPr/>
          <p:nvPr/>
        </p:nvSpPr>
        <p:spPr>
          <a:xfrm>
            <a:off x="1417320" y="1618488"/>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The threat landscape, by the numbers</a:t>
            </a:r>
            <a:endParaRPr lang="en-US" sz="1500" dirty="0"/>
          </a:p>
        </p:txBody>
      </p:sp>
      <p:sp>
        <p:nvSpPr>
          <p:cNvPr id="8" name="Shape 5"/>
          <p:cNvSpPr/>
          <p:nvPr/>
        </p:nvSpPr>
        <p:spPr>
          <a:xfrm>
            <a:off x="502920" y="2258568"/>
            <a:ext cx="457200" cy="457200"/>
          </a:xfrm>
          <a:prstGeom prst="ellipse">
            <a:avLst/>
          </a:prstGeom>
          <a:solidFill>
            <a:srgbClr val="0B5E34"/>
          </a:solidFill>
          <a:ln/>
        </p:spPr>
      </p:sp>
      <p:pic>
        <p:nvPicPr>
          <p:cNvPr id="9" name="Image 1" descr="preencoded.png">    </p:cNvPr>
          <p:cNvPicPr>
            <a:picLocks noChangeAspect="1"/>
          </p:cNvPicPr>
          <p:nvPr/>
        </p:nvPicPr>
        <p:blipFill>
          <a:blip r:embed="rId2"/>
          <a:stretch>
            <a:fillRect/>
          </a:stretch>
        </p:blipFill>
        <p:spPr>
          <a:xfrm>
            <a:off x="612648" y="2368296"/>
            <a:ext cx="237744" cy="237744"/>
          </a:xfrm>
          <a:prstGeom prst="rect">
            <a:avLst/>
          </a:prstGeom>
        </p:spPr>
      </p:pic>
      <p:sp>
        <p:nvSpPr>
          <p:cNvPr id="10" name="Text 6"/>
          <p:cNvSpPr/>
          <p:nvPr/>
        </p:nvSpPr>
        <p:spPr>
          <a:xfrm>
            <a:off x="1033272" y="2203704"/>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02</a:t>
            </a:r>
            <a:endParaRPr lang="en-US" sz="1400" dirty="0"/>
          </a:p>
        </p:txBody>
      </p:sp>
      <p:sp>
        <p:nvSpPr>
          <p:cNvPr id="11" name="Text 7"/>
          <p:cNvSpPr/>
          <p:nvPr/>
        </p:nvSpPr>
        <p:spPr>
          <a:xfrm>
            <a:off x="1417320" y="2276856"/>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Who’s being targeted, and how</a:t>
            </a:r>
            <a:endParaRPr lang="en-US" sz="1500" dirty="0"/>
          </a:p>
        </p:txBody>
      </p:sp>
      <p:sp>
        <p:nvSpPr>
          <p:cNvPr id="12" name="Shape 8"/>
          <p:cNvSpPr/>
          <p:nvPr/>
        </p:nvSpPr>
        <p:spPr>
          <a:xfrm>
            <a:off x="502920" y="2916936"/>
            <a:ext cx="457200" cy="457200"/>
          </a:xfrm>
          <a:prstGeom prst="ellipse">
            <a:avLst/>
          </a:prstGeom>
          <a:solidFill>
            <a:srgbClr val="0B5E34"/>
          </a:solidFill>
          <a:ln/>
        </p:spPr>
      </p:sp>
      <p:pic>
        <p:nvPicPr>
          <p:cNvPr id="13" name="Image 2" descr="preencoded.png">    </p:cNvPr>
          <p:cNvPicPr>
            <a:picLocks noChangeAspect="1"/>
          </p:cNvPicPr>
          <p:nvPr/>
        </p:nvPicPr>
        <p:blipFill>
          <a:blip r:embed="rId3"/>
          <a:stretch>
            <a:fillRect/>
          </a:stretch>
        </p:blipFill>
        <p:spPr>
          <a:xfrm>
            <a:off x="612648" y="3026664"/>
            <a:ext cx="237744" cy="237744"/>
          </a:xfrm>
          <a:prstGeom prst="rect">
            <a:avLst/>
          </a:prstGeom>
        </p:spPr>
      </p:pic>
      <p:sp>
        <p:nvSpPr>
          <p:cNvPr id="14" name="Text 9"/>
          <p:cNvSpPr/>
          <p:nvPr/>
        </p:nvSpPr>
        <p:spPr>
          <a:xfrm>
            <a:off x="1033272" y="2862072"/>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03</a:t>
            </a:r>
            <a:endParaRPr lang="en-US" sz="1400" dirty="0"/>
          </a:p>
        </p:txBody>
      </p:sp>
      <p:sp>
        <p:nvSpPr>
          <p:cNvPr id="15" name="Text 10"/>
          <p:cNvSpPr/>
          <p:nvPr/>
        </p:nvSpPr>
        <p:spPr>
          <a:xfrm>
            <a:off x="1417320" y="2935224"/>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Case study: the CAC / ByteToBreach breach</a:t>
            </a:r>
            <a:endParaRPr lang="en-US" sz="1500" dirty="0"/>
          </a:p>
        </p:txBody>
      </p:sp>
      <p:sp>
        <p:nvSpPr>
          <p:cNvPr id="16" name="Shape 11"/>
          <p:cNvSpPr/>
          <p:nvPr/>
        </p:nvSpPr>
        <p:spPr>
          <a:xfrm>
            <a:off x="502920" y="3575304"/>
            <a:ext cx="457200" cy="457200"/>
          </a:xfrm>
          <a:prstGeom prst="ellipse">
            <a:avLst/>
          </a:prstGeom>
          <a:solidFill>
            <a:srgbClr val="0B5E34"/>
          </a:solidFill>
          <a:ln/>
        </p:spPr>
      </p:sp>
      <p:pic>
        <p:nvPicPr>
          <p:cNvPr id="17" name="Image 3" descr="preencoded.png">    </p:cNvPr>
          <p:cNvPicPr>
            <a:picLocks noChangeAspect="1"/>
          </p:cNvPicPr>
          <p:nvPr/>
        </p:nvPicPr>
        <p:blipFill>
          <a:blip r:embed="rId4"/>
          <a:stretch>
            <a:fillRect/>
          </a:stretch>
        </p:blipFill>
        <p:spPr>
          <a:xfrm>
            <a:off x="612648" y="3685032"/>
            <a:ext cx="237744" cy="237744"/>
          </a:xfrm>
          <a:prstGeom prst="rect">
            <a:avLst/>
          </a:prstGeom>
        </p:spPr>
      </p:pic>
      <p:sp>
        <p:nvSpPr>
          <p:cNvPr id="18" name="Text 12"/>
          <p:cNvSpPr/>
          <p:nvPr/>
        </p:nvSpPr>
        <p:spPr>
          <a:xfrm>
            <a:off x="1033272" y="3520440"/>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04</a:t>
            </a:r>
            <a:endParaRPr lang="en-US" sz="1400" dirty="0"/>
          </a:p>
        </p:txBody>
      </p:sp>
      <p:sp>
        <p:nvSpPr>
          <p:cNvPr id="19" name="Text 13"/>
          <p:cNvSpPr/>
          <p:nvPr/>
        </p:nvSpPr>
        <p:spPr>
          <a:xfrm>
            <a:off x="1417320" y="3593592"/>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Nigeria’s regulatory response</a:t>
            </a:r>
            <a:endParaRPr lang="en-US" sz="1500" dirty="0"/>
          </a:p>
        </p:txBody>
      </p:sp>
      <p:sp>
        <p:nvSpPr>
          <p:cNvPr id="20" name="Shape 14"/>
          <p:cNvSpPr/>
          <p:nvPr/>
        </p:nvSpPr>
        <p:spPr>
          <a:xfrm>
            <a:off x="6309360" y="1600200"/>
            <a:ext cx="457200" cy="457200"/>
          </a:xfrm>
          <a:prstGeom prst="ellipse">
            <a:avLst/>
          </a:prstGeom>
          <a:solidFill>
            <a:srgbClr val="146B47"/>
          </a:solidFill>
          <a:ln/>
        </p:spPr>
      </p:sp>
      <p:pic>
        <p:nvPicPr>
          <p:cNvPr id="21" name="Image 4" descr="preencoded.png">    </p:cNvPr>
          <p:cNvPicPr>
            <a:picLocks noChangeAspect="1"/>
          </p:cNvPicPr>
          <p:nvPr/>
        </p:nvPicPr>
        <p:blipFill>
          <a:blip r:embed="rId5"/>
          <a:stretch>
            <a:fillRect/>
          </a:stretch>
        </p:blipFill>
        <p:spPr>
          <a:xfrm>
            <a:off x="6419088" y="1709928"/>
            <a:ext cx="237744" cy="237744"/>
          </a:xfrm>
          <a:prstGeom prst="rect">
            <a:avLst/>
          </a:prstGeom>
        </p:spPr>
      </p:pic>
      <p:sp>
        <p:nvSpPr>
          <p:cNvPr id="22" name="Text 15"/>
          <p:cNvSpPr/>
          <p:nvPr/>
        </p:nvSpPr>
        <p:spPr>
          <a:xfrm>
            <a:off x="6839712" y="1545336"/>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05</a:t>
            </a:r>
            <a:endParaRPr lang="en-US" sz="1400" dirty="0"/>
          </a:p>
        </p:txBody>
      </p:sp>
      <p:sp>
        <p:nvSpPr>
          <p:cNvPr id="23" name="Text 16"/>
          <p:cNvSpPr/>
          <p:nvPr/>
        </p:nvSpPr>
        <p:spPr>
          <a:xfrm>
            <a:off x="7223760" y="1618488"/>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The talent gap</a:t>
            </a:r>
            <a:endParaRPr lang="en-US" sz="1500" dirty="0"/>
          </a:p>
        </p:txBody>
      </p:sp>
      <p:sp>
        <p:nvSpPr>
          <p:cNvPr id="24" name="Shape 17"/>
          <p:cNvSpPr/>
          <p:nvPr/>
        </p:nvSpPr>
        <p:spPr>
          <a:xfrm>
            <a:off x="6309360" y="2258568"/>
            <a:ext cx="457200" cy="457200"/>
          </a:xfrm>
          <a:prstGeom prst="ellipse">
            <a:avLst/>
          </a:prstGeom>
          <a:solidFill>
            <a:srgbClr val="146B47"/>
          </a:solidFill>
          <a:ln/>
        </p:spPr>
      </p:sp>
      <p:pic>
        <p:nvPicPr>
          <p:cNvPr id="25" name="Image 5" descr="preencoded.png">    </p:cNvPr>
          <p:cNvPicPr>
            <a:picLocks noChangeAspect="1"/>
          </p:cNvPicPr>
          <p:nvPr/>
        </p:nvPicPr>
        <p:blipFill>
          <a:blip r:embed="rId6"/>
          <a:stretch>
            <a:fillRect/>
          </a:stretch>
        </p:blipFill>
        <p:spPr>
          <a:xfrm>
            <a:off x="6419088" y="2368296"/>
            <a:ext cx="237744" cy="237744"/>
          </a:xfrm>
          <a:prstGeom prst="rect">
            <a:avLst/>
          </a:prstGeom>
        </p:spPr>
      </p:pic>
      <p:sp>
        <p:nvSpPr>
          <p:cNvPr id="26" name="Text 18"/>
          <p:cNvSpPr/>
          <p:nvPr/>
        </p:nvSpPr>
        <p:spPr>
          <a:xfrm>
            <a:off x="6839712" y="2203704"/>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06</a:t>
            </a:r>
            <a:endParaRPr lang="en-US" sz="1400" dirty="0"/>
          </a:p>
        </p:txBody>
      </p:sp>
      <p:sp>
        <p:nvSpPr>
          <p:cNvPr id="27" name="Text 19"/>
          <p:cNvSpPr/>
          <p:nvPr/>
        </p:nvSpPr>
        <p:spPr>
          <a:xfrm>
            <a:off x="7223760" y="2276856"/>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Key takeaways</a:t>
            </a:r>
            <a:endParaRPr lang="en-US" sz="1500" dirty="0"/>
          </a:p>
        </p:txBody>
      </p:sp>
      <p:sp>
        <p:nvSpPr>
          <p:cNvPr id="28" name="Shape 20"/>
          <p:cNvSpPr/>
          <p:nvPr/>
        </p:nvSpPr>
        <p:spPr>
          <a:xfrm>
            <a:off x="6309360" y="2916936"/>
            <a:ext cx="457200" cy="457200"/>
          </a:xfrm>
          <a:prstGeom prst="ellipse">
            <a:avLst/>
          </a:prstGeom>
          <a:solidFill>
            <a:srgbClr val="146B47"/>
          </a:solidFill>
          <a:ln/>
        </p:spPr>
      </p:sp>
      <p:pic>
        <p:nvPicPr>
          <p:cNvPr id="29" name="Image 6" descr="preencoded.png">    </p:cNvPr>
          <p:cNvPicPr>
            <a:picLocks noChangeAspect="1"/>
          </p:cNvPicPr>
          <p:nvPr/>
        </p:nvPicPr>
        <p:blipFill>
          <a:blip r:embed="rId7"/>
          <a:stretch>
            <a:fillRect/>
          </a:stretch>
        </p:blipFill>
        <p:spPr>
          <a:xfrm>
            <a:off x="6419088" y="3026664"/>
            <a:ext cx="237744" cy="237744"/>
          </a:xfrm>
          <a:prstGeom prst="rect">
            <a:avLst/>
          </a:prstGeom>
        </p:spPr>
      </p:pic>
      <p:sp>
        <p:nvSpPr>
          <p:cNvPr id="30" name="Text 21"/>
          <p:cNvSpPr/>
          <p:nvPr/>
        </p:nvSpPr>
        <p:spPr>
          <a:xfrm>
            <a:off x="6839712" y="2862072"/>
            <a:ext cx="457200" cy="365760"/>
          </a:xfrm>
          <a:prstGeom prst="rect">
            <a:avLst/>
          </a:prstGeom>
          <a:noFill/>
          <a:ln/>
        </p:spPr>
        <p:txBody>
          <a:bodyPr wrap="square" lIns="0" tIns="0" rIns="0" bIns="0" rtlCol="0" anchor="ctr"/>
          <a:lstStyle/>
          <a:p>
            <a:pPr indent="0" marL="0">
              <a:buNone/>
            </a:pPr>
            <a:r>
              <a:rPr lang="en-US" sz="1400" b="1" dirty="0">
                <a:solidFill>
                  <a:srgbClr val="E8A93A"/>
                </a:solidFill>
                <a:latin typeface="Cambria" pitchFamily="34" charset="0"/>
                <a:ea typeface="Cambria" pitchFamily="34" charset="-122"/>
                <a:cs typeface="Cambria" pitchFamily="34" charset="-120"/>
              </a:rPr>
              <a:t>07</a:t>
            </a:r>
            <a:endParaRPr lang="en-US" sz="1400" dirty="0"/>
          </a:p>
        </p:txBody>
      </p:sp>
      <p:sp>
        <p:nvSpPr>
          <p:cNvPr id="31" name="Text 22"/>
          <p:cNvSpPr/>
          <p:nvPr/>
        </p:nvSpPr>
        <p:spPr>
          <a:xfrm>
            <a:off x="7223760" y="2935224"/>
            <a:ext cx="4434840" cy="457200"/>
          </a:xfrm>
          <a:prstGeom prst="rect">
            <a:avLst/>
          </a:prstGeom>
          <a:noFill/>
          <a:ln/>
        </p:spPr>
        <p:txBody>
          <a:bodyPr wrap="square" lIns="0" tIns="0" rIns="0" bIns="0" rtlCol="0" anchor="ctr"/>
          <a:lstStyle/>
          <a:p>
            <a:pPr indent="0" marL="0">
              <a:buNone/>
            </a:pPr>
            <a:r>
              <a:rPr lang="en-US" sz="1500" dirty="0">
                <a:solidFill>
                  <a:srgbClr val="17231C"/>
                </a:solidFill>
                <a:latin typeface="Calibri" pitchFamily="34" charset="0"/>
                <a:ea typeface="Calibri" pitchFamily="34" charset="-122"/>
                <a:cs typeface="Calibri" pitchFamily="34" charset="-120"/>
              </a:rPr>
              <a:t>Q&amp;A — 15 minutes</a:t>
            </a:r>
            <a:endParaRPr lang="en-US" sz="1500" dirty="0"/>
          </a:p>
        </p:txBody>
      </p:sp>
      <p:sp>
        <p:nvSpPr>
          <p:cNvPr id="32" name="Text 23"/>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CONTEXT</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Why this matters now</a:t>
            </a:r>
            <a:endParaRPr lang="en-US" sz="3000" dirty="0"/>
          </a:p>
        </p:txBody>
      </p:sp>
      <p:sp>
        <p:nvSpPr>
          <p:cNvPr id="4" name="Text 2"/>
          <p:cNvSpPr/>
          <p:nvPr/>
        </p:nvSpPr>
        <p:spPr>
          <a:xfrm>
            <a:off x="502920" y="1691640"/>
            <a:ext cx="6126480" cy="4206240"/>
          </a:xfrm>
          <a:prstGeom prst="rect">
            <a:avLst/>
          </a:prstGeom>
          <a:noFill/>
          <a:ln/>
        </p:spPr>
        <p:txBody>
          <a:bodyPr wrap="square" lIns="0" tIns="0" rIns="0" bIns="0" rtlCol="0" anchor="t"/>
          <a:lstStyle/>
          <a:p>
            <a:pPr marL="228600" indent="-228600">
              <a:lnSpc>
                <a:spcPts val="1920"/>
              </a:lnSpc>
              <a:spcAft>
                <a:spcPts val="1600"/>
              </a:spcAft>
              <a:buSzPct val="100000"/>
              <a:buChar char="▪"/>
            </a:pPr>
            <a:r>
              <a:rPr lang="en-US" sz="1500" dirty="0">
                <a:solidFill>
                  <a:srgbClr val="17231C"/>
                </a:solidFill>
                <a:latin typeface="Calibri" pitchFamily="34" charset="0"/>
                <a:ea typeface="Calibri" pitchFamily="34" charset="-122"/>
                <a:cs typeface="Calibri" pitchFamily="34" charset="-120"/>
              </a:rPr>
              <a:t>Nigeria has Africa’s largest digital economy and one of its fastest-growing fintech sectors.</a:t>
            </a:r>
            <a:endParaRPr lang="en-US" sz="1500" dirty="0"/>
          </a:p>
          <a:p>
            <a:pPr marL="228600" indent="-228600">
              <a:lnSpc>
                <a:spcPts val="1920"/>
              </a:lnSpc>
              <a:spcAft>
                <a:spcPts val="1600"/>
              </a:spcAft>
              <a:buSzPct val="100000"/>
              <a:buChar char="▪"/>
            </a:pPr>
            <a:r>
              <a:rPr lang="en-US" sz="1500" dirty="0">
                <a:solidFill>
                  <a:srgbClr val="17231C"/>
                </a:solidFill>
                <a:latin typeface="Calibri" pitchFamily="34" charset="0"/>
                <a:ea typeface="Calibri" pitchFamily="34" charset="-122"/>
                <a:cs typeface="Calibri" pitchFamily="34" charset="-120"/>
              </a:rPr>
              <a:t>Mobile money, e-commerce, and digital banking adoption has outpaced investment in security controls.</a:t>
            </a:r>
            <a:endParaRPr lang="en-US" sz="1500" dirty="0"/>
          </a:p>
          <a:p>
            <a:pPr marL="228600" indent="-228600">
              <a:lnSpc>
                <a:spcPts val="1920"/>
              </a:lnSpc>
              <a:spcAft>
                <a:spcPts val="1600"/>
              </a:spcAft>
              <a:buSzPct val="100000"/>
              <a:buChar char="▪"/>
            </a:pPr>
            <a:r>
              <a:rPr lang="en-US" sz="1500" dirty="0">
                <a:solidFill>
                  <a:srgbClr val="17231C"/>
                </a:solidFill>
                <a:latin typeface="Calibri" pitchFamily="34" charset="0"/>
                <a:ea typeface="Calibri" pitchFamily="34" charset="-122"/>
                <a:cs typeface="Calibri" pitchFamily="34" charset="-120"/>
              </a:rPr>
              <a:t>The result: Nigeria now ranks among the most heavily targeted cyber environments on the continent.</a:t>
            </a:r>
            <a:endParaRPr lang="en-US" sz="1500" dirty="0"/>
          </a:p>
          <a:p>
            <a:pPr marL="228600" indent="-228600">
              <a:lnSpc>
                <a:spcPts val="1920"/>
              </a:lnSpc>
              <a:spcAft>
                <a:spcPts val="1600"/>
              </a:spcAft>
              <a:buSzPct val="100000"/>
              <a:buChar char="▪"/>
            </a:pPr>
            <a:r>
              <a:rPr lang="en-US" sz="1500" dirty="0">
                <a:solidFill>
                  <a:srgbClr val="17231C"/>
                </a:solidFill>
                <a:latin typeface="Calibri" pitchFamily="34" charset="0"/>
                <a:ea typeface="Calibri" pitchFamily="34" charset="-122"/>
                <a:cs typeface="Calibri" pitchFamily="34" charset="-120"/>
              </a:rPr>
              <a:t>Every trend in this briefing traces back to one fact — attack surface is growing faster than defense capacity.</a:t>
            </a:r>
            <a:endParaRPr lang="en-US" sz="1500" dirty="0"/>
          </a:p>
        </p:txBody>
      </p:sp>
      <p:sp>
        <p:nvSpPr>
          <p:cNvPr id="5" name="Shape 3"/>
          <p:cNvSpPr/>
          <p:nvPr/>
        </p:nvSpPr>
        <p:spPr>
          <a:xfrm>
            <a:off x="7178040" y="1600200"/>
            <a:ext cx="4480560" cy="4297680"/>
          </a:xfrm>
          <a:prstGeom prst="roundRect">
            <a:avLst>
              <a:gd name="adj" fmla="val 2553"/>
            </a:avLst>
          </a:prstGeom>
          <a:solidFill>
            <a:srgbClr val="073821"/>
          </a:solidFill>
          <a:ln/>
        </p:spPr>
      </p:sp>
      <p:sp>
        <p:nvSpPr>
          <p:cNvPr id="6" name="Shape 4"/>
          <p:cNvSpPr/>
          <p:nvPr/>
        </p:nvSpPr>
        <p:spPr>
          <a:xfrm>
            <a:off x="7543800" y="1920240"/>
            <a:ext cx="594360" cy="594360"/>
          </a:xfrm>
          <a:prstGeom prst="ellipse">
            <a:avLst/>
          </a:prstGeom>
          <a:solidFill>
            <a:srgbClr val="E8A93A"/>
          </a:solidFill>
          <a:ln/>
        </p:spPr>
      </p:sp>
      <p:pic>
        <p:nvPicPr>
          <p:cNvPr id="7" name="Image 0" descr="preencoded.png">    </p:cNvPr>
          <p:cNvPicPr>
            <a:picLocks noChangeAspect="1"/>
          </p:cNvPicPr>
          <p:nvPr/>
        </p:nvPicPr>
        <p:blipFill>
          <a:blip r:embed="rId1"/>
          <a:stretch>
            <a:fillRect/>
          </a:stretch>
        </p:blipFill>
        <p:spPr>
          <a:xfrm>
            <a:off x="7686446" y="2062886"/>
            <a:ext cx="309067" cy="309067"/>
          </a:xfrm>
          <a:prstGeom prst="rect">
            <a:avLst/>
          </a:prstGeom>
        </p:spPr>
      </p:pic>
      <p:sp>
        <p:nvSpPr>
          <p:cNvPr id="8" name="Text 5"/>
          <p:cNvSpPr/>
          <p:nvPr/>
        </p:nvSpPr>
        <p:spPr>
          <a:xfrm>
            <a:off x="7543800" y="2697480"/>
            <a:ext cx="3749040" cy="822960"/>
          </a:xfrm>
          <a:prstGeom prst="rect">
            <a:avLst/>
          </a:prstGeom>
          <a:noFill/>
          <a:ln/>
        </p:spPr>
        <p:txBody>
          <a:bodyPr wrap="square" lIns="0" tIns="0" rIns="0" bIns="0" rtlCol="0" anchor="ctr"/>
          <a:lstStyle/>
          <a:p>
            <a:pPr indent="0" marL="0">
              <a:lnSpc>
                <a:spcPts val="2200"/>
              </a:lnSpc>
              <a:buNone/>
            </a:pPr>
            <a:r>
              <a:rPr lang="en-US" sz="2000" b="1" dirty="0">
                <a:solidFill>
                  <a:srgbClr val="FFFFFF"/>
                </a:solidFill>
                <a:latin typeface="Cambria" pitchFamily="34" charset="0"/>
                <a:ea typeface="Cambria" pitchFamily="34" charset="-122"/>
                <a:cs typeface="Cambria" pitchFamily="34" charset="-120"/>
              </a:rPr>
              <a:t>Africa’s digital</a:t>
            </a:r>
            <a:endParaRPr lang="en-US" sz="2000" dirty="0"/>
          </a:p>
          <a:p>
            <a:pPr indent="0" marL="0">
              <a:lnSpc>
                <a:spcPts val="2200"/>
              </a:lnSpc>
              <a:buNone/>
            </a:pPr>
            <a:r>
              <a:rPr lang="en-US" sz="2000" b="1" dirty="0">
                <a:solidFill>
                  <a:srgbClr val="FFFFFF"/>
                </a:solidFill>
                <a:latin typeface="Cambria" pitchFamily="34" charset="0"/>
                <a:ea typeface="Cambria" pitchFamily="34" charset="-122"/>
                <a:cs typeface="Cambria" pitchFamily="34" charset="-120"/>
              </a:rPr>
              <a:t>front line</a:t>
            </a:r>
            <a:endParaRPr lang="en-US" sz="2000" dirty="0"/>
          </a:p>
        </p:txBody>
      </p:sp>
      <p:sp>
        <p:nvSpPr>
          <p:cNvPr id="9" name="Text 6"/>
          <p:cNvSpPr/>
          <p:nvPr/>
        </p:nvSpPr>
        <p:spPr>
          <a:xfrm>
            <a:off x="7543800" y="3611880"/>
            <a:ext cx="3749040" cy="502920"/>
          </a:xfrm>
          <a:prstGeom prst="rect">
            <a:avLst/>
          </a:prstGeom>
          <a:noFill/>
          <a:ln/>
        </p:spPr>
        <p:txBody>
          <a:bodyPr wrap="square" lIns="0" tIns="0" rIns="0" bIns="0" rtlCol="0" anchor="ctr"/>
          <a:lstStyle/>
          <a:p>
            <a:pPr indent="0" marL="0">
              <a:buNone/>
            </a:pPr>
            <a:r>
              <a:rPr lang="en-US" sz="3000" b="1" dirty="0">
                <a:solidFill>
                  <a:srgbClr val="E8A93A"/>
                </a:solidFill>
                <a:latin typeface="Cambria" pitchFamily="34" charset="0"/>
                <a:ea typeface="Cambria" pitchFamily="34" charset="-122"/>
                <a:cs typeface="Cambria" pitchFamily="34" charset="-120"/>
              </a:rPr>
              <a:t>220M+</a:t>
            </a:r>
            <a:endParaRPr lang="en-US" sz="3000" dirty="0"/>
          </a:p>
        </p:txBody>
      </p:sp>
      <p:sp>
        <p:nvSpPr>
          <p:cNvPr id="10" name="Text 7"/>
          <p:cNvSpPr/>
          <p:nvPr/>
        </p:nvSpPr>
        <p:spPr>
          <a:xfrm>
            <a:off x="7543800" y="4114800"/>
            <a:ext cx="3749040" cy="548640"/>
          </a:xfrm>
          <a:prstGeom prst="rect">
            <a:avLst/>
          </a:prstGeom>
          <a:noFill/>
          <a:ln/>
        </p:spPr>
        <p:txBody>
          <a:bodyPr wrap="square" lIns="0" tIns="0" rIns="0" bIns="0" rtlCol="0" anchor="ctr"/>
          <a:lstStyle/>
          <a:p>
            <a:pPr indent="0" marL="0">
              <a:buNone/>
            </a:pPr>
            <a:r>
              <a:rPr lang="en-US" sz="1200" dirty="0">
                <a:solidFill>
                  <a:srgbClr val="CFE3D8"/>
                </a:solidFill>
                <a:latin typeface="Calibri" pitchFamily="34" charset="0"/>
                <a:ea typeface="Calibri" pitchFamily="34" charset="-122"/>
                <a:cs typeface="Calibri" pitchFamily="34" charset="-120"/>
              </a:rPr>
              <a:t>Population, and the largest online consumer base in Africa</a:t>
            </a:r>
            <a:endParaRPr lang="en-US" sz="1200" dirty="0"/>
          </a:p>
        </p:txBody>
      </p:sp>
      <p:sp>
        <p:nvSpPr>
          <p:cNvPr id="11" name="Text 8"/>
          <p:cNvSpPr/>
          <p:nvPr/>
        </p:nvSpPr>
        <p:spPr>
          <a:xfrm>
            <a:off x="7543800" y="4709160"/>
            <a:ext cx="3749040" cy="502920"/>
          </a:xfrm>
          <a:prstGeom prst="rect">
            <a:avLst/>
          </a:prstGeom>
          <a:noFill/>
          <a:ln/>
        </p:spPr>
        <p:txBody>
          <a:bodyPr wrap="square" lIns="0" tIns="0" rIns="0" bIns="0" rtlCol="0" anchor="ctr"/>
          <a:lstStyle/>
          <a:p>
            <a:pPr indent="0" marL="0">
              <a:buNone/>
            </a:pPr>
            <a:r>
              <a:rPr lang="en-US" sz="3000" b="1" dirty="0">
                <a:solidFill>
                  <a:srgbClr val="E8A93A"/>
                </a:solidFill>
                <a:latin typeface="Cambria" pitchFamily="34" charset="0"/>
                <a:ea typeface="Cambria" pitchFamily="34" charset="-122"/>
                <a:cs typeface="Cambria" pitchFamily="34" charset="-120"/>
              </a:rPr>
              <a:t>#1</a:t>
            </a:r>
            <a:endParaRPr lang="en-US" sz="3000" dirty="0"/>
          </a:p>
        </p:txBody>
      </p:sp>
      <p:sp>
        <p:nvSpPr>
          <p:cNvPr id="12" name="Text 9"/>
          <p:cNvSpPr/>
          <p:nvPr/>
        </p:nvSpPr>
        <p:spPr>
          <a:xfrm>
            <a:off x="7543800" y="5212080"/>
            <a:ext cx="3749040" cy="594360"/>
          </a:xfrm>
          <a:prstGeom prst="rect">
            <a:avLst/>
          </a:prstGeom>
          <a:noFill/>
          <a:ln/>
        </p:spPr>
        <p:txBody>
          <a:bodyPr wrap="square" lIns="0" tIns="0" rIns="0" bIns="0" rtlCol="0" anchor="ctr"/>
          <a:lstStyle/>
          <a:p>
            <a:pPr indent="0" marL="0">
              <a:buNone/>
            </a:pPr>
            <a:r>
              <a:rPr lang="en-US" sz="1200" dirty="0">
                <a:solidFill>
                  <a:srgbClr val="CFE3D8"/>
                </a:solidFill>
                <a:latin typeface="Calibri" pitchFamily="34" charset="0"/>
                <a:ea typeface="Calibri" pitchFamily="34" charset="-122"/>
                <a:cs typeface="Calibri" pitchFamily="34" charset="-120"/>
              </a:rPr>
              <a:t>Nigeria is Africa’s largest fintech and mobile-money market</a:t>
            </a:r>
            <a:endParaRPr lang="en-US" sz="1200" dirty="0"/>
          </a:p>
        </p:txBody>
      </p:sp>
      <p:sp>
        <p:nvSpPr>
          <p:cNvPr id="13" name="Text 10"/>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F0EB"/>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THE NUMBERS</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The threat landscape — scale</a:t>
            </a:r>
            <a:endParaRPr lang="en-US" sz="3000" dirty="0"/>
          </a:p>
        </p:txBody>
      </p:sp>
      <p:sp>
        <p:nvSpPr>
          <p:cNvPr id="4" name="Shape 2"/>
          <p:cNvSpPr/>
          <p:nvPr/>
        </p:nvSpPr>
        <p:spPr>
          <a:xfrm>
            <a:off x="502920" y="169164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5" name="Text 3"/>
          <p:cNvSpPr/>
          <p:nvPr/>
        </p:nvSpPr>
        <p:spPr>
          <a:xfrm>
            <a:off x="704088" y="1819656"/>
            <a:ext cx="4946904" cy="1022299"/>
          </a:xfrm>
          <a:prstGeom prst="rect">
            <a:avLst/>
          </a:prstGeom>
          <a:noFill/>
          <a:ln/>
        </p:spPr>
        <p:txBody>
          <a:bodyPr wrap="square" lIns="0" tIns="0" rIns="0" bIns="0" rtlCol="0" anchor="b"/>
          <a:lstStyle/>
          <a:p>
            <a:pPr algn="l" indent="0" marL="0">
              <a:buNone/>
            </a:pPr>
            <a:r>
              <a:rPr lang="en-US" sz="3400" b="1" dirty="0">
                <a:solidFill>
                  <a:srgbClr val="0B5E34"/>
                </a:solidFill>
                <a:latin typeface="Cambria" pitchFamily="34" charset="0"/>
                <a:ea typeface="Cambria" pitchFamily="34" charset="-122"/>
                <a:cs typeface="Cambria" pitchFamily="34" charset="-120"/>
              </a:rPr>
              <a:t>1.6M</a:t>
            </a:r>
            <a:endParaRPr lang="en-US" sz="3400" dirty="0"/>
          </a:p>
        </p:txBody>
      </p:sp>
      <p:sp>
        <p:nvSpPr>
          <p:cNvPr id="6" name="Text 4"/>
          <p:cNvSpPr/>
          <p:nvPr/>
        </p:nvSpPr>
        <p:spPr>
          <a:xfrm>
            <a:off x="704088" y="287121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Online cyberattack attempts recorded in H1 2026 alone</a:t>
            </a:r>
            <a:endParaRPr lang="en-US" sz="1150" dirty="0"/>
          </a:p>
        </p:txBody>
      </p:sp>
      <p:sp>
        <p:nvSpPr>
          <p:cNvPr id="7" name="Shape 5"/>
          <p:cNvSpPr/>
          <p:nvPr/>
        </p:nvSpPr>
        <p:spPr>
          <a:xfrm>
            <a:off x="6309360" y="169164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8" name="Text 6"/>
          <p:cNvSpPr/>
          <p:nvPr/>
        </p:nvSpPr>
        <p:spPr>
          <a:xfrm>
            <a:off x="6510528" y="1819656"/>
            <a:ext cx="4946904" cy="1022299"/>
          </a:xfrm>
          <a:prstGeom prst="rect">
            <a:avLst/>
          </a:prstGeom>
          <a:noFill/>
          <a:ln/>
        </p:spPr>
        <p:txBody>
          <a:bodyPr wrap="square" lIns="0" tIns="0" rIns="0" bIns="0" rtlCol="0" anchor="b"/>
          <a:lstStyle/>
          <a:p>
            <a:pPr algn="l" indent="0" marL="0">
              <a:buNone/>
            </a:pPr>
            <a:r>
              <a:rPr lang="en-US" sz="3400" b="1" dirty="0">
                <a:solidFill>
                  <a:srgbClr val="0B5E34"/>
                </a:solidFill>
                <a:latin typeface="Cambria" pitchFamily="34" charset="0"/>
                <a:ea typeface="Cambria" pitchFamily="34" charset="-122"/>
                <a:cs typeface="Cambria" pitchFamily="34" charset="-120"/>
              </a:rPr>
              <a:t>4,700+</a:t>
            </a:r>
            <a:endParaRPr lang="en-US" sz="3400" dirty="0"/>
          </a:p>
        </p:txBody>
      </p:sp>
      <p:sp>
        <p:nvSpPr>
          <p:cNvPr id="9" name="Text 7"/>
          <p:cNvSpPr/>
          <p:nvPr/>
        </p:nvSpPr>
        <p:spPr>
          <a:xfrm>
            <a:off x="6510528" y="287121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Average cyberattacks per week across Nigeria since early 2026</a:t>
            </a:r>
            <a:endParaRPr lang="en-US" sz="1150" dirty="0"/>
          </a:p>
        </p:txBody>
      </p:sp>
      <p:sp>
        <p:nvSpPr>
          <p:cNvPr id="10" name="Shape 8"/>
          <p:cNvSpPr/>
          <p:nvPr/>
        </p:nvSpPr>
        <p:spPr>
          <a:xfrm>
            <a:off x="502920" y="402336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11" name="Text 9"/>
          <p:cNvSpPr/>
          <p:nvPr/>
        </p:nvSpPr>
        <p:spPr>
          <a:xfrm>
            <a:off x="704088" y="4151376"/>
            <a:ext cx="4946904" cy="1022299"/>
          </a:xfrm>
          <a:prstGeom prst="rect">
            <a:avLst/>
          </a:prstGeom>
          <a:noFill/>
          <a:ln/>
        </p:spPr>
        <p:txBody>
          <a:bodyPr wrap="square" lIns="0" tIns="0" rIns="0" bIns="0" rtlCol="0" anchor="b"/>
          <a:lstStyle/>
          <a:p>
            <a:pPr algn="l" indent="0" marL="0">
              <a:buNone/>
            </a:pPr>
            <a:r>
              <a:rPr lang="en-US" sz="3400" b="1" dirty="0">
                <a:solidFill>
                  <a:srgbClr val="0B5E34"/>
                </a:solidFill>
                <a:latin typeface="Cambria" pitchFamily="34" charset="0"/>
                <a:ea typeface="Cambria" pitchFamily="34" charset="-122"/>
                <a:cs typeface="Cambria" pitchFamily="34" charset="-120"/>
              </a:rPr>
              <a:t>1,047%</a:t>
            </a:r>
            <a:endParaRPr lang="en-US" sz="3400" dirty="0"/>
          </a:p>
        </p:txBody>
      </p:sp>
      <p:sp>
        <p:nvSpPr>
          <p:cNvPr id="12" name="Text 10"/>
          <p:cNvSpPr/>
          <p:nvPr/>
        </p:nvSpPr>
        <p:spPr>
          <a:xfrm>
            <a:off x="704088" y="520293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Surge in reported cyberattack breaches in a single quarter</a:t>
            </a:r>
            <a:endParaRPr lang="en-US" sz="1150" dirty="0"/>
          </a:p>
        </p:txBody>
      </p:sp>
      <p:sp>
        <p:nvSpPr>
          <p:cNvPr id="13" name="Shape 11"/>
          <p:cNvSpPr/>
          <p:nvPr/>
        </p:nvSpPr>
        <p:spPr>
          <a:xfrm>
            <a:off x="6309360" y="402336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14" name="Text 12"/>
          <p:cNvSpPr/>
          <p:nvPr/>
        </p:nvSpPr>
        <p:spPr>
          <a:xfrm>
            <a:off x="6510528" y="4151376"/>
            <a:ext cx="4946904" cy="1022299"/>
          </a:xfrm>
          <a:prstGeom prst="rect">
            <a:avLst/>
          </a:prstGeom>
          <a:noFill/>
          <a:ln/>
        </p:spPr>
        <p:txBody>
          <a:bodyPr wrap="square" lIns="0" tIns="0" rIns="0" bIns="0" rtlCol="0" anchor="b"/>
          <a:lstStyle/>
          <a:p>
            <a:pPr algn="l" indent="0" marL="0">
              <a:buNone/>
            </a:pPr>
            <a:r>
              <a:rPr lang="en-US" sz="3400" b="1" dirty="0">
                <a:solidFill>
                  <a:srgbClr val="0B5E34"/>
                </a:solidFill>
                <a:latin typeface="Cambria" pitchFamily="34" charset="0"/>
                <a:ea typeface="Cambria" pitchFamily="34" charset="-122"/>
                <a:cs typeface="Cambria" pitchFamily="34" charset="-120"/>
              </a:rPr>
              <a:t>AI-driven</a:t>
            </a:r>
            <a:endParaRPr lang="en-US" sz="3400" dirty="0"/>
          </a:p>
        </p:txBody>
      </p:sp>
      <p:sp>
        <p:nvSpPr>
          <p:cNvPr id="15" name="Text 13"/>
          <p:cNvSpPr/>
          <p:nvPr/>
        </p:nvSpPr>
        <p:spPr>
          <a:xfrm>
            <a:off x="6510528" y="520293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AI is lowering the cost and skill needed to launch sophisticated attacks</a:t>
            </a:r>
            <a:endParaRPr lang="en-US" sz="1150" dirty="0"/>
          </a:p>
        </p:txBody>
      </p:sp>
      <p:sp>
        <p:nvSpPr>
          <p:cNvPr id="16" name="Text 14"/>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04</a:t>
            </a:r>
            <a:endParaRPr lang="en-US" sz="1000" dirty="0"/>
          </a:p>
        </p:txBody>
      </p:sp>
      <p:sp>
        <p:nvSpPr>
          <p:cNvPr id="17" name="Text 15"/>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FINANCIAL FRAUD</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A paradox: losses down, severity up</a:t>
            </a:r>
            <a:endParaRPr lang="en-US" sz="3000" dirty="0"/>
          </a:p>
        </p:txBody>
      </p:sp>
      <p:graphicFrame>
        <p:nvGraphicFramePr>
          <p:cNvPr id="4" name="Chart 0" descr=""/>
          <p:cNvGraphicFramePr/>
          <p:nvPr/>
        </p:nvGraphicFramePr>
        <p:xfrm>
          <a:off x="502920" y="1691640"/>
          <a:ext cx="594360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903720" y="1737360"/>
            <a:ext cx="4754880" cy="3931920"/>
          </a:xfrm>
          <a:prstGeom prst="rect">
            <a:avLst/>
          </a:prstGeom>
          <a:noFill/>
          <a:ln/>
        </p:spPr>
        <p:txBody>
          <a:bodyPr wrap="square" lIns="0" tIns="0" rIns="0" bIns="0" rtlCol="0" anchor="t"/>
          <a:lstStyle/>
          <a:p>
            <a:pPr marL="228600" indent="-228600">
              <a:lnSpc>
                <a:spcPts val="1728"/>
              </a:lnSpc>
              <a:spcAft>
                <a:spcPts val="1400"/>
              </a:spcAft>
              <a:buSzPct val="100000"/>
              <a:buChar char="▪"/>
            </a:pPr>
            <a:r>
              <a:rPr lang="en-US" sz="1350" dirty="0">
                <a:solidFill>
                  <a:srgbClr val="17231C"/>
                </a:solidFill>
                <a:latin typeface="Calibri" pitchFamily="34" charset="0"/>
                <a:ea typeface="Calibri" pitchFamily="34" charset="-122"/>
                <a:cs typeface="Calibri" pitchFamily="34" charset="-120"/>
              </a:rPr>
              <a:t>Losses fell ~50%, from ₦52.26bn (2024) to ₦25.85bn (2025), helped by BVN-NIN integration and tighter CBN controls.</a:t>
            </a:r>
            <a:endParaRPr lang="en-US" sz="1350" dirty="0"/>
          </a:p>
          <a:p>
            <a:pPr marL="228600" indent="-228600">
              <a:lnSpc>
                <a:spcPts val="1728"/>
              </a:lnSpc>
              <a:spcAft>
                <a:spcPts val="1400"/>
              </a:spcAft>
              <a:buSzPct val="100000"/>
              <a:buChar char="▪"/>
            </a:pPr>
            <a:r>
              <a:rPr lang="en-US" sz="1350" dirty="0">
                <a:solidFill>
                  <a:srgbClr val="17231C"/>
                </a:solidFill>
                <a:latin typeface="Calibri" pitchFamily="34" charset="0"/>
                <a:ea typeface="Calibri" pitchFamily="34" charset="-122"/>
                <a:cs typeface="Calibri" pitchFamily="34" charset="-120"/>
              </a:rPr>
              <a:t>But fraud cases dropped only ~31% — meaning the average incident got more costly.</a:t>
            </a:r>
            <a:endParaRPr lang="en-US" sz="1350" dirty="0"/>
          </a:p>
          <a:p>
            <a:pPr marL="228600" indent="-228600">
              <a:lnSpc>
                <a:spcPts val="1728"/>
              </a:lnSpc>
              <a:spcAft>
                <a:spcPts val="1400"/>
              </a:spcAft>
              <a:buSzPct val="100000"/>
              <a:buChar char="▪"/>
            </a:pPr>
            <a:r>
              <a:rPr lang="en-US" sz="1350" dirty="0">
                <a:solidFill>
                  <a:srgbClr val="17231C"/>
                </a:solidFill>
                <a:latin typeface="Calibri" pitchFamily="34" charset="0"/>
                <a:ea typeface="Calibri" pitchFamily="34" charset="-122"/>
                <a:cs typeface="Calibri" pitchFamily="34" charset="-120"/>
              </a:rPr>
              <a:t>Attacks are fewer, more targeted, and better resourced, not going away.</a:t>
            </a:r>
            <a:endParaRPr lang="en-US" sz="1350" dirty="0"/>
          </a:p>
          <a:p>
            <a:pPr marL="228600" indent="-228600">
              <a:lnSpc>
                <a:spcPts val="1728"/>
              </a:lnSpc>
              <a:spcAft>
                <a:spcPts val="1400"/>
              </a:spcAft>
              <a:buSzPct val="100000"/>
              <a:buChar char="▪"/>
            </a:pPr>
            <a:r>
              <a:rPr lang="en-US" sz="1350" dirty="0">
                <a:solidFill>
                  <a:srgbClr val="17231C"/>
                </a:solidFill>
                <a:latin typeface="Calibri" pitchFamily="34" charset="0"/>
                <a:ea typeface="Calibri" pitchFamily="34" charset="-122"/>
                <a:cs typeface="Calibri" pitchFamily="34" charset="-120"/>
              </a:rPr>
              <a:t>Nigeria was separately flagged in a $20.9bn global cybercrime surge.</a:t>
            </a:r>
            <a:endParaRPr lang="en-US" sz="1350" dirty="0"/>
          </a:p>
        </p:txBody>
      </p:sp>
      <p:sp>
        <p:nvSpPr>
          <p:cNvPr id="6" name="Text 3"/>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05</a:t>
            </a:r>
            <a:endParaRPr lang="en-US" sz="1000" dirty="0"/>
          </a:p>
        </p:txBody>
      </p:sp>
      <p:sp>
        <p:nvSpPr>
          <p:cNvPr id="7" name="Text 4"/>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REGIONAL STANDING</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Nigeria in the African threat picture</a:t>
            </a:r>
            <a:endParaRPr lang="en-US" sz="3000" dirty="0"/>
          </a:p>
        </p:txBody>
      </p:sp>
      <p:graphicFrame>
        <p:nvGraphicFramePr>
          <p:cNvPr id="4" name="Chart 0" descr=""/>
          <p:cNvGraphicFramePr/>
          <p:nvPr/>
        </p:nvGraphicFramePr>
        <p:xfrm>
          <a:off x="502920" y="1691640"/>
          <a:ext cx="493776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92240" y="1691640"/>
            <a:ext cx="1463040" cy="914400"/>
          </a:xfrm>
          <a:prstGeom prst="rect">
            <a:avLst/>
          </a:prstGeom>
          <a:noFill/>
          <a:ln/>
        </p:spPr>
        <p:txBody>
          <a:bodyPr wrap="square" lIns="0" tIns="0" rIns="0" bIns="0" rtlCol="0" anchor="ctr"/>
          <a:lstStyle/>
          <a:p>
            <a:pPr indent="0" marL="0">
              <a:buNone/>
            </a:pPr>
            <a:r>
              <a:rPr lang="en-US" sz="2200" b="1" dirty="0">
                <a:solidFill>
                  <a:srgbClr val="0B5E34"/>
                </a:solidFill>
                <a:latin typeface="Cambria" pitchFamily="34" charset="0"/>
                <a:ea typeface="Cambria" pitchFamily="34" charset="-122"/>
                <a:cs typeface="Cambria" pitchFamily="34" charset="-120"/>
              </a:rPr>
              <a:t>45%</a:t>
            </a:r>
            <a:endParaRPr lang="en-US" sz="2200" dirty="0"/>
          </a:p>
        </p:txBody>
      </p:sp>
      <p:sp>
        <p:nvSpPr>
          <p:cNvPr id="6" name="Text 3"/>
          <p:cNvSpPr/>
          <p:nvPr/>
        </p:nvSpPr>
        <p:spPr>
          <a:xfrm>
            <a:off x="8046720" y="1691640"/>
            <a:ext cx="3639312" cy="914400"/>
          </a:xfrm>
          <a:prstGeom prst="rect">
            <a:avLst/>
          </a:prstGeom>
          <a:noFill/>
          <a:ln/>
        </p:spPr>
        <p:txBody>
          <a:bodyPr wrap="square" lIns="0" tIns="0" rIns="0" bIns="0" rtlCol="0" anchor="ctr"/>
          <a:lstStyle/>
          <a:p>
            <a:pPr indent="0" marL="0">
              <a:buNone/>
            </a:pPr>
            <a:r>
              <a:rPr lang="en-US" sz="1200" dirty="0">
                <a:solidFill>
                  <a:srgbClr val="17231C"/>
                </a:solidFill>
                <a:latin typeface="Calibri" pitchFamily="34" charset="0"/>
                <a:ea typeface="Calibri" pitchFamily="34" charset="-122"/>
                <a:cs typeface="Calibri" pitchFamily="34" charset="-120"/>
              </a:rPr>
              <a:t>of reported cybercrime incidents across Africa originate from or target Nigeria</a:t>
            </a:r>
            <a:endParaRPr lang="en-US" sz="1200" dirty="0"/>
          </a:p>
        </p:txBody>
      </p:sp>
      <p:sp>
        <p:nvSpPr>
          <p:cNvPr id="7" name="Text 4"/>
          <p:cNvSpPr/>
          <p:nvPr/>
        </p:nvSpPr>
        <p:spPr>
          <a:xfrm>
            <a:off x="6492240" y="2770632"/>
            <a:ext cx="1463040" cy="914400"/>
          </a:xfrm>
          <a:prstGeom prst="rect">
            <a:avLst/>
          </a:prstGeom>
          <a:noFill/>
          <a:ln/>
        </p:spPr>
        <p:txBody>
          <a:bodyPr wrap="square" lIns="0" tIns="0" rIns="0" bIns="0" rtlCol="0" anchor="ctr"/>
          <a:lstStyle/>
          <a:p>
            <a:pPr indent="0" marL="0">
              <a:buNone/>
            </a:pPr>
            <a:r>
              <a:rPr lang="en-US" sz="2200" b="1" dirty="0">
                <a:solidFill>
                  <a:srgbClr val="0B5E34"/>
                </a:solidFill>
                <a:latin typeface="Cambria" pitchFamily="34" charset="0"/>
                <a:ea typeface="Cambria" pitchFamily="34" charset="-122"/>
                <a:cs typeface="Cambria" pitchFamily="34" charset="-120"/>
              </a:rPr>
              <a:t>#12</a:t>
            </a:r>
            <a:endParaRPr lang="en-US" sz="2200" dirty="0"/>
          </a:p>
        </p:txBody>
      </p:sp>
      <p:sp>
        <p:nvSpPr>
          <p:cNvPr id="8" name="Text 5"/>
          <p:cNvSpPr/>
          <p:nvPr/>
        </p:nvSpPr>
        <p:spPr>
          <a:xfrm>
            <a:off x="8046720" y="2770632"/>
            <a:ext cx="3639312" cy="914400"/>
          </a:xfrm>
          <a:prstGeom prst="rect">
            <a:avLst/>
          </a:prstGeom>
          <a:noFill/>
          <a:ln/>
        </p:spPr>
        <p:txBody>
          <a:bodyPr wrap="square" lIns="0" tIns="0" rIns="0" bIns="0" rtlCol="0" anchor="ctr"/>
          <a:lstStyle/>
          <a:p>
            <a:pPr indent="0" marL="0">
              <a:buNone/>
            </a:pPr>
            <a:r>
              <a:rPr lang="en-US" sz="1200" dirty="0">
                <a:solidFill>
                  <a:srgbClr val="17231C"/>
                </a:solidFill>
                <a:latin typeface="Calibri" pitchFamily="34" charset="0"/>
                <a:ea typeface="Calibri" pitchFamily="34" charset="-122"/>
                <a:cs typeface="Calibri" pitchFamily="34" charset="-120"/>
              </a:rPr>
              <a:t>Nigeria’s global rank for complaints filed with the FBI’s Internet Crime Complaint Center (2025)</a:t>
            </a:r>
            <a:endParaRPr lang="en-US" sz="1200" dirty="0"/>
          </a:p>
        </p:txBody>
      </p:sp>
      <p:sp>
        <p:nvSpPr>
          <p:cNvPr id="9" name="Text 6"/>
          <p:cNvSpPr/>
          <p:nvPr/>
        </p:nvSpPr>
        <p:spPr>
          <a:xfrm>
            <a:off x="6492240" y="3849624"/>
            <a:ext cx="1463040" cy="914400"/>
          </a:xfrm>
          <a:prstGeom prst="rect">
            <a:avLst/>
          </a:prstGeom>
          <a:noFill/>
          <a:ln/>
        </p:spPr>
        <p:txBody>
          <a:bodyPr wrap="square" lIns="0" tIns="0" rIns="0" bIns="0" rtlCol="0" anchor="ctr"/>
          <a:lstStyle/>
          <a:p>
            <a:pPr indent="0" marL="0">
              <a:buNone/>
            </a:pPr>
            <a:r>
              <a:rPr lang="en-US" sz="2200" b="1" dirty="0">
                <a:solidFill>
                  <a:srgbClr val="0B5E34"/>
                </a:solidFill>
                <a:latin typeface="Cambria" pitchFamily="34" charset="0"/>
                <a:ea typeface="Cambria" pitchFamily="34" charset="-122"/>
                <a:cs typeface="Cambria" pitchFamily="34" charset="-120"/>
              </a:rPr>
              <a:t>$2.4bn</a:t>
            </a:r>
            <a:endParaRPr lang="en-US" sz="2200" dirty="0"/>
          </a:p>
        </p:txBody>
      </p:sp>
      <p:sp>
        <p:nvSpPr>
          <p:cNvPr id="10" name="Text 7"/>
          <p:cNvSpPr/>
          <p:nvPr/>
        </p:nvSpPr>
        <p:spPr>
          <a:xfrm>
            <a:off x="8046720" y="3849624"/>
            <a:ext cx="3639312" cy="914400"/>
          </a:xfrm>
          <a:prstGeom prst="rect">
            <a:avLst/>
          </a:prstGeom>
          <a:noFill/>
          <a:ln/>
        </p:spPr>
        <p:txBody>
          <a:bodyPr wrap="square" lIns="0" tIns="0" rIns="0" bIns="0" rtlCol="0" anchor="ctr"/>
          <a:lstStyle/>
          <a:p>
            <a:pPr indent="0" marL="0">
              <a:buNone/>
            </a:pPr>
            <a:r>
              <a:rPr lang="en-US" sz="1200" dirty="0">
                <a:solidFill>
                  <a:srgbClr val="17231C"/>
                </a:solidFill>
                <a:latin typeface="Calibri" pitchFamily="34" charset="0"/>
                <a:ea typeface="Calibri" pitchFamily="34" charset="-122"/>
                <a:cs typeface="Calibri" pitchFamily="34" charset="-120"/>
              </a:rPr>
              <a:t>estimated losses to cyberattacks in just the first 10 months of 2024</a:t>
            </a:r>
            <a:endParaRPr lang="en-US" sz="1200" dirty="0"/>
          </a:p>
        </p:txBody>
      </p:sp>
      <p:sp>
        <p:nvSpPr>
          <p:cNvPr id="11" name="Text 8"/>
          <p:cNvSpPr/>
          <p:nvPr/>
        </p:nvSpPr>
        <p:spPr>
          <a:xfrm>
            <a:off x="6492240" y="4928616"/>
            <a:ext cx="1463040" cy="914400"/>
          </a:xfrm>
          <a:prstGeom prst="rect">
            <a:avLst/>
          </a:prstGeom>
          <a:noFill/>
          <a:ln/>
        </p:spPr>
        <p:txBody>
          <a:bodyPr wrap="square" lIns="0" tIns="0" rIns="0" bIns="0" rtlCol="0" anchor="ctr"/>
          <a:lstStyle/>
          <a:p>
            <a:pPr indent="0" marL="0">
              <a:buNone/>
            </a:pPr>
            <a:r>
              <a:rPr lang="en-US" sz="2200" b="1" dirty="0">
                <a:solidFill>
                  <a:srgbClr val="0B5E34"/>
                </a:solidFill>
                <a:latin typeface="Cambria" pitchFamily="34" charset="0"/>
                <a:ea typeface="Cambria" pitchFamily="34" charset="-122"/>
                <a:cs typeface="Cambria" pitchFamily="34" charset="-120"/>
              </a:rPr>
              <a:t>71%</a:t>
            </a:r>
            <a:endParaRPr lang="en-US" sz="2200" dirty="0"/>
          </a:p>
        </p:txBody>
      </p:sp>
      <p:sp>
        <p:nvSpPr>
          <p:cNvPr id="12" name="Text 9"/>
          <p:cNvSpPr/>
          <p:nvPr/>
        </p:nvSpPr>
        <p:spPr>
          <a:xfrm>
            <a:off x="8046720" y="4928616"/>
            <a:ext cx="3639312" cy="914400"/>
          </a:xfrm>
          <a:prstGeom prst="rect">
            <a:avLst/>
          </a:prstGeom>
          <a:noFill/>
          <a:ln/>
        </p:spPr>
        <p:txBody>
          <a:bodyPr wrap="square" lIns="0" tIns="0" rIns="0" bIns="0" rtlCol="0" anchor="ctr"/>
          <a:lstStyle/>
          <a:p>
            <a:pPr indent="0" marL="0">
              <a:buNone/>
            </a:pPr>
            <a:r>
              <a:rPr lang="en-US" sz="1200" dirty="0">
                <a:solidFill>
                  <a:srgbClr val="17231C"/>
                </a:solidFill>
                <a:latin typeface="Calibri" pitchFamily="34" charset="0"/>
                <a:ea typeface="Calibri" pitchFamily="34" charset="-122"/>
                <a:cs typeface="Calibri" pitchFamily="34" charset="-120"/>
              </a:rPr>
              <a:t>of Nigerian organizations experienced a ransomware attack in the past year</a:t>
            </a:r>
            <a:endParaRPr lang="en-US" sz="1200" dirty="0"/>
          </a:p>
        </p:txBody>
      </p:sp>
      <p:sp>
        <p:nvSpPr>
          <p:cNvPr id="13" name="Text 10"/>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06</a:t>
            </a:r>
            <a:endParaRPr lang="en-US" sz="1000" dirty="0"/>
          </a:p>
        </p:txBody>
      </p:sp>
      <p:sp>
        <p:nvSpPr>
          <p:cNvPr id="14" name="Text 11"/>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F0EB"/>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THREAT EVOLUTION</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Identity is the new battleground</a:t>
            </a:r>
            <a:endParaRPr lang="en-US" sz="3000" dirty="0"/>
          </a:p>
        </p:txBody>
      </p:sp>
      <p:sp>
        <p:nvSpPr>
          <p:cNvPr id="4" name="Shape 2"/>
          <p:cNvSpPr/>
          <p:nvPr/>
        </p:nvSpPr>
        <p:spPr>
          <a:xfrm>
            <a:off x="502920" y="1691640"/>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5" name="Shape 3"/>
          <p:cNvSpPr/>
          <p:nvPr/>
        </p:nvSpPr>
        <p:spPr>
          <a:xfrm>
            <a:off x="704088" y="1874520"/>
            <a:ext cx="493776" cy="493776"/>
          </a:xfrm>
          <a:prstGeom prst="ellipse">
            <a:avLst/>
          </a:prstGeom>
          <a:solidFill>
            <a:srgbClr val="0B5E34"/>
          </a:solidFill>
          <a:ln/>
        </p:spPr>
      </p:sp>
      <p:pic>
        <p:nvPicPr>
          <p:cNvPr id="6" name="Image 0" descr="preencoded.png">    </p:cNvPr>
          <p:cNvPicPr>
            <a:picLocks noChangeAspect="1"/>
          </p:cNvPicPr>
          <p:nvPr/>
        </p:nvPicPr>
        <p:blipFill>
          <a:blip r:embed="rId1"/>
          <a:stretch>
            <a:fillRect/>
          </a:stretch>
        </p:blipFill>
        <p:spPr>
          <a:xfrm>
            <a:off x="822594" y="1993026"/>
            <a:ext cx="256764" cy="256764"/>
          </a:xfrm>
          <a:prstGeom prst="rect">
            <a:avLst/>
          </a:prstGeom>
        </p:spPr>
      </p:pic>
      <p:sp>
        <p:nvSpPr>
          <p:cNvPr id="7" name="Text 4"/>
          <p:cNvSpPr/>
          <p:nvPr/>
        </p:nvSpPr>
        <p:spPr>
          <a:xfrm>
            <a:off x="1463040" y="1764792"/>
            <a:ext cx="356616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Password-stealer detections</a:t>
            </a:r>
            <a:endParaRPr lang="en-US" sz="1400" dirty="0"/>
          </a:p>
        </p:txBody>
      </p:sp>
      <p:sp>
        <p:nvSpPr>
          <p:cNvPr id="8" name="Text 5"/>
          <p:cNvSpPr/>
          <p:nvPr/>
        </p:nvSpPr>
        <p:spPr>
          <a:xfrm>
            <a:off x="5120640" y="1764792"/>
            <a:ext cx="6385255" cy="713232"/>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Up 66% year-on-year in H1 2025, still trending up ~26% since</a:t>
            </a:r>
            <a:endParaRPr lang="en-US" sz="1250" dirty="0"/>
          </a:p>
        </p:txBody>
      </p:sp>
      <p:sp>
        <p:nvSpPr>
          <p:cNvPr id="9" name="Shape 6"/>
          <p:cNvSpPr/>
          <p:nvPr/>
        </p:nvSpPr>
        <p:spPr>
          <a:xfrm>
            <a:off x="502920" y="2715768"/>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10" name="Shape 7"/>
          <p:cNvSpPr/>
          <p:nvPr/>
        </p:nvSpPr>
        <p:spPr>
          <a:xfrm>
            <a:off x="704088" y="2898648"/>
            <a:ext cx="493776" cy="493776"/>
          </a:xfrm>
          <a:prstGeom prst="ellipse">
            <a:avLst/>
          </a:prstGeom>
          <a:solidFill>
            <a:srgbClr val="146B47"/>
          </a:solidFill>
          <a:ln/>
        </p:spPr>
      </p:sp>
      <p:pic>
        <p:nvPicPr>
          <p:cNvPr id="11" name="Image 1" descr="preencoded.png">    </p:cNvPr>
          <p:cNvPicPr>
            <a:picLocks noChangeAspect="1"/>
          </p:cNvPicPr>
          <p:nvPr/>
        </p:nvPicPr>
        <p:blipFill>
          <a:blip r:embed="rId2"/>
          <a:stretch>
            <a:fillRect/>
          </a:stretch>
        </p:blipFill>
        <p:spPr>
          <a:xfrm>
            <a:off x="822594" y="3017154"/>
            <a:ext cx="256764" cy="256764"/>
          </a:xfrm>
          <a:prstGeom prst="rect">
            <a:avLst/>
          </a:prstGeom>
        </p:spPr>
      </p:pic>
      <p:sp>
        <p:nvSpPr>
          <p:cNvPr id="12" name="Text 8"/>
          <p:cNvSpPr/>
          <p:nvPr/>
        </p:nvSpPr>
        <p:spPr>
          <a:xfrm>
            <a:off x="1463040" y="2788920"/>
            <a:ext cx="356616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Spyware detections</a:t>
            </a:r>
            <a:endParaRPr lang="en-US" sz="1400" dirty="0"/>
          </a:p>
        </p:txBody>
      </p:sp>
      <p:sp>
        <p:nvSpPr>
          <p:cNvPr id="13" name="Text 9"/>
          <p:cNvSpPr/>
          <p:nvPr/>
        </p:nvSpPr>
        <p:spPr>
          <a:xfrm>
            <a:off x="5120640" y="2788920"/>
            <a:ext cx="6385255" cy="713232"/>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Up 53% year-on-year, later trending up another 14%</a:t>
            </a:r>
            <a:endParaRPr lang="en-US" sz="1250" dirty="0"/>
          </a:p>
        </p:txBody>
      </p:sp>
      <p:sp>
        <p:nvSpPr>
          <p:cNvPr id="14" name="Shape 10"/>
          <p:cNvSpPr/>
          <p:nvPr/>
        </p:nvSpPr>
        <p:spPr>
          <a:xfrm>
            <a:off x="502920" y="3739896"/>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15" name="Shape 11"/>
          <p:cNvSpPr/>
          <p:nvPr/>
        </p:nvSpPr>
        <p:spPr>
          <a:xfrm>
            <a:off x="704088" y="3922776"/>
            <a:ext cx="493776" cy="493776"/>
          </a:xfrm>
          <a:prstGeom prst="ellipse">
            <a:avLst/>
          </a:prstGeom>
          <a:solidFill>
            <a:srgbClr val="0B5E34"/>
          </a:solidFill>
          <a:ln/>
        </p:spPr>
      </p:sp>
      <p:pic>
        <p:nvPicPr>
          <p:cNvPr id="16" name="Image 2" descr="preencoded.png">    </p:cNvPr>
          <p:cNvPicPr>
            <a:picLocks noChangeAspect="1"/>
          </p:cNvPicPr>
          <p:nvPr/>
        </p:nvPicPr>
        <p:blipFill>
          <a:blip r:embed="rId3"/>
          <a:stretch>
            <a:fillRect/>
          </a:stretch>
        </p:blipFill>
        <p:spPr>
          <a:xfrm>
            <a:off x="822594" y="4041282"/>
            <a:ext cx="256764" cy="256764"/>
          </a:xfrm>
          <a:prstGeom prst="rect">
            <a:avLst/>
          </a:prstGeom>
        </p:spPr>
      </p:pic>
      <p:sp>
        <p:nvSpPr>
          <p:cNvPr id="17" name="Text 12"/>
          <p:cNvSpPr/>
          <p:nvPr/>
        </p:nvSpPr>
        <p:spPr>
          <a:xfrm>
            <a:off x="1463040" y="3813048"/>
            <a:ext cx="356616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Strategic shift</a:t>
            </a:r>
            <a:endParaRPr lang="en-US" sz="1400" dirty="0"/>
          </a:p>
        </p:txBody>
      </p:sp>
      <p:sp>
        <p:nvSpPr>
          <p:cNvPr id="18" name="Text 13"/>
          <p:cNvSpPr/>
          <p:nvPr/>
        </p:nvSpPr>
        <p:spPr>
          <a:xfrm>
            <a:off x="5120640" y="3813048"/>
            <a:ext cx="6385255" cy="713232"/>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From disrupting systems → to stealing identities and committing financial fraud</a:t>
            </a:r>
            <a:endParaRPr lang="en-US" sz="1250" dirty="0"/>
          </a:p>
        </p:txBody>
      </p:sp>
      <p:sp>
        <p:nvSpPr>
          <p:cNvPr id="19" name="Shape 14"/>
          <p:cNvSpPr/>
          <p:nvPr/>
        </p:nvSpPr>
        <p:spPr>
          <a:xfrm>
            <a:off x="502920" y="4764024"/>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20" name="Shape 15"/>
          <p:cNvSpPr/>
          <p:nvPr/>
        </p:nvSpPr>
        <p:spPr>
          <a:xfrm>
            <a:off x="704088" y="4946904"/>
            <a:ext cx="493776" cy="493776"/>
          </a:xfrm>
          <a:prstGeom prst="ellipse">
            <a:avLst/>
          </a:prstGeom>
          <a:solidFill>
            <a:srgbClr val="146B47"/>
          </a:solidFill>
          <a:ln/>
        </p:spPr>
      </p:sp>
      <p:pic>
        <p:nvPicPr>
          <p:cNvPr id="21" name="Image 3" descr="preencoded.png">    </p:cNvPr>
          <p:cNvPicPr>
            <a:picLocks noChangeAspect="1"/>
          </p:cNvPicPr>
          <p:nvPr/>
        </p:nvPicPr>
        <p:blipFill>
          <a:blip r:embed="rId4"/>
          <a:stretch>
            <a:fillRect/>
          </a:stretch>
        </p:blipFill>
        <p:spPr>
          <a:xfrm>
            <a:off x="822594" y="5065410"/>
            <a:ext cx="256764" cy="256764"/>
          </a:xfrm>
          <a:prstGeom prst="rect">
            <a:avLst/>
          </a:prstGeom>
        </p:spPr>
      </p:pic>
      <p:sp>
        <p:nvSpPr>
          <p:cNvPr id="22" name="Text 16"/>
          <p:cNvSpPr/>
          <p:nvPr/>
        </p:nvSpPr>
        <p:spPr>
          <a:xfrm>
            <a:off x="1463040" y="4837176"/>
            <a:ext cx="356616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Cloud-based exfiltration</a:t>
            </a:r>
            <a:endParaRPr lang="en-US" sz="1400" dirty="0"/>
          </a:p>
        </p:txBody>
      </p:sp>
      <p:sp>
        <p:nvSpPr>
          <p:cNvPr id="23" name="Text 17"/>
          <p:cNvSpPr/>
          <p:nvPr/>
        </p:nvSpPr>
        <p:spPr>
          <a:xfrm>
            <a:off x="5120640" y="4837176"/>
            <a:ext cx="6385255" cy="713232"/>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Attackers now move stolen data through legitimate cloud storage platforms to blend in with normal traffic</a:t>
            </a:r>
            <a:endParaRPr lang="en-US" sz="1250" dirty="0"/>
          </a:p>
        </p:txBody>
      </p:sp>
      <p:sp>
        <p:nvSpPr>
          <p:cNvPr id="24" name="Text 18"/>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07</a:t>
            </a:r>
            <a:endParaRPr lang="en-US" sz="1000" dirty="0"/>
          </a:p>
        </p:txBody>
      </p:sp>
      <p:sp>
        <p:nvSpPr>
          <p:cNvPr id="25" name="Text 19"/>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3821"/>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E8A93A"/>
                </a:solidFill>
                <a:latin typeface="Calibri" pitchFamily="34" charset="0"/>
                <a:ea typeface="Calibri" pitchFamily="34" charset="-122"/>
                <a:cs typeface="Calibri" pitchFamily="34" charset="-120"/>
              </a:rPr>
              <a:t>CASE STUDY</a:t>
            </a:r>
            <a:endParaRPr lang="en-US" sz="1250" dirty="0"/>
          </a:p>
        </p:txBody>
      </p:sp>
      <p:sp>
        <p:nvSpPr>
          <p:cNvPr id="3" name="Text 1"/>
          <p:cNvSpPr/>
          <p:nvPr/>
        </p:nvSpPr>
        <p:spPr>
          <a:xfrm>
            <a:off x="502920" y="658368"/>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CAC / ByteToBreach breach</a:t>
            </a:r>
            <a:endParaRPr lang="en-US" sz="3000" dirty="0"/>
          </a:p>
        </p:txBody>
      </p:sp>
      <p:sp>
        <p:nvSpPr>
          <p:cNvPr id="4" name="Text 2"/>
          <p:cNvSpPr/>
          <p:nvPr/>
        </p:nvSpPr>
        <p:spPr>
          <a:xfrm>
            <a:off x="502920" y="1298448"/>
            <a:ext cx="9601200" cy="365760"/>
          </a:xfrm>
          <a:prstGeom prst="rect">
            <a:avLst/>
          </a:prstGeom>
          <a:noFill/>
          <a:ln/>
        </p:spPr>
        <p:txBody>
          <a:bodyPr wrap="square" lIns="0" tIns="0" rIns="0" bIns="0" rtlCol="0" anchor="ctr"/>
          <a:lstStyle/>
          <a:p>
            <a:pPr indent="0" marL="0">
              <a:buNone/>
            </a:pPr>
            <a:r>
              <a:rPr lang="en-US" sz="1300" i="1" dirty="0">
                <a:solidFill>
                  <a:srgbClr val="CFE3D8"/>
                </a:solidFill>
                <a:latin typeface="Calibri" pitchFamily="34" charset="0"/>
                <a:ea typeface="Calibri" pitchFamily="34" charset="-122"/>
                <a:cs typeface="Calibri" pitchFamily="34" charset="-120"/>
              </a:rPr>
              <a:t>Nigeria’s Corporate Affairs Commission — the authoritative registry of every company in the country</a:t>
            </a:r>
            <a:endParaRPr lang="en-US" sz="1300" dirty="0"/>
          </a:p>
        </p:txBody>
      </p:sp>
      <p:sp>
        <p:nvSpPr>
          <p:cNvPr id="5" name="Shape 3"/>
          <p:cNvSpPr/>
          <p:nvPr/>
        </p:nvSpPr>
        <p:spPr>
          <a:xfrm>
            <a:off x="502920" y="1920240"/>
            <a:ext cx="3429000" cy="1417320"/>
          </a:xfrm>
          <a:prstGeom prst="roundRect">
            <a:avLst>
              <a:gd name="adj" fmla="val 6452"/>
            </a:avLst>
          </a:prstGeom>
          <a:solidFill>
            <a:srgbClr val="0B5E34"/>
          </a:solidFill>
          <a:ln/>
        </p:spPr>
      </p:sp>
      <p:sp>
        <p:nvSpPr>
          <p:cNvPr id="6" name="Text 4"/>
          <p:cNvSpPr/>
          <p:nvPr/>
        </p:nvSpPr>
        <p:spPr>
          <a:xfrm>
            <a:off x="731520" y="2057400"/>
            <a:ext cx="2971800" cy="685800"/>
          </a:xfrm>
          <a:prstGeom prst="rect">
            <a:avLst/>
          </a:prstGeom>
          <a:noFill/>
          <a:ln/>
        </p:spPr>
        <p:txBody>
          <a:bodyPr wrap="square" lIns="0" tIns="0" rIns="0" bIns="0" rtlCol="0" anchor="ctr"/>
          <a:lstStyle/>
          <a:p>
            <a:pPr indent="0" marL="0">
              <a:buNone/>
            </a:pPr>
            <a:r>
              <a:rPr lang="en-US" sz="3000" b="1" dirty="0">
                <a:solidFill>
                  <a:srgbClr val="E8A93A"/>
                </a:solidFill>
                <a:latin typeface="Cambria" pitchFamily="34" charset="0"/>
                <a:ea typeface="Cambria" pitchFamily="34" charset="-122"/>
                <a:cs typeface="Cambria" pitchFamily="34" charset="-120"/>
              </a:rPr>
              <a:t>~25M</a:t>
            </a:r>
            <a:endParaRPr lang="en-US" sz="3000" dirty="0"/>
          </a:p>
        </p:txBody>
      </p:sp>
      <p:sp>
        <p:nvSpPr>
          <p:cNvPr id="7" name="Text 5"/>
          <p:cNvSpPr/>
          <p:nvPr/>
        </p:nvSpPr>
        <p:spPr>
          <a:xfrm>
            <a:off x="731520" y="2761488"/>
            <a:ext cx="2971800" cy="502920"/>
          </a:xfrm>
          <a:prstGeom prst="rect">
            <a:avLst/>
          </a:prstGeom>
          <a:noFill/>
          <a:ln/>
        </p:spPr>
        <p:txBody>
          <a:bodyPr wrap="square" lIns="0" tIns="0" rIns="0" bIns="0" rtlCol="0" anchor="ctr"/>
          <a:lstStyle/>
          <a:p>
            <a:pPr indent="0" marL="0">
              <a:buNone/>
            </a:pPr>
            <a:r>
              <a:rPr lang="en-US" sz="1150" dirty="0">
                <a:solidFill>
                  <a:srgbClr val="E9F2EC"/>
                </a:solidFill>
                <a:latin typeface="Calibri" pitchFamily="34" charset="0"/>
                <a:ea typeface="Calibri" pitchFamily="34" charset="-122"/>
                <a:cs typeface="Calibri" pitchFamily="34" charset="-120"/>
              </a:rPr>
              <a:t>files exfiltrated (~750GB of data)</a:t>
            </a:r>
            <a:endParaRPr lang="en-US" sz="1150" dirty="0"/>
          </a:p>
        </p:txBody>
      </p:sp>
      <p:sp>
        <p:nvSpPr>
          <p:cNvPr id="8" name="Shape 6"/>
          <p:cNvSpPr/>
          <p:nvPr/>
        </p:nvSpPr>
        <p:spPr>
          <a:xfrm>
            <a:off x="4160520" y="1920240"/>
            <a:ext cx="3429000" cy="1417320"/>
          </a:xfrm>
          <a:prstGeom prst="roundRect">
            <a:avLst>
              <a:gd name="adj" fmla="val 6452"/>
            </a:avLst>
          </a:prstGeom>
          <a:solidFill>
            <a:srgbClr val="0B5E34"/>
          </a:solidFill>
          <a:ln/>
        </p:spPr>
      </p:sp>
      <p:sp>
        <p:nvSpPr>
          <p:cNvPr id="9" name="Text 7"/>
          <p:cNvSpPr/>
          <p:nvPr/>
        </p:nvSpPr>
        <p:spPr>
          <a:xfrm>
            <a:off x="4389120" y="2057400"/>
            <a:ext cx="2971800" cy="685800"/>
          </a:xfrm>
          <a:prstGeom prst="rect">
            <a:avLst/>
          </a:prstGeom>
          <a:noFill/>
          <a:ln/>
        </p:spPr>
        <p:txBody>
          <a:bodyPr wrap="square" lIns="0" tIns="0" rIns="0" bIns="0" rtlCol="0" anchor="ctr"/>
          <a:lstStyle/>
          <a:p>
            <a:pPr indent="0" marL="0">
              <a:buNone/>
            </a:pPr>
            <a:r>
              <a:rPr lang="en-US" sz="3000" b="1" dirty="0">
                <a:solidFill>
                  <a:srgbClr val="E8A93A"/>
                </a:solidFill>
                <a:latin typeface="Cambria" pitchFamily="34" charset="0"/>
                <a:ea typeface="Cambria" pitchFamily="34" charset="-122"/>
                <a:cs typeface="Cambria" pitchFamily="34" charset="-120"/>
              </a:rPr>
              <a:t>15M+</a:t>
            </a:r>
            <a:endParaRPr lang="en-US" sz="3000" dirty="0"/>
          </a:p>
        </p:txBody>
      </p:sp>
      <p:sp>
        <p:nvSpPr>
          <p:cNvPr id="10" name="Text 8"/>
          <p:cNvSpPr/>
          <p:nvPr/>
        </p:nvSpPr>
        <p:spPr>
          <a:xfrm>
            <a:off x="4389120" y="2761488"/>
            <a:ext cx="2971800" cy="502920"/>
          </a:xfrm>
          <a:prstGeom prst="rect">
            <a:avLst/>
          </a:prstGeom>
          <a:noFill/>
          <a:ln/>
        </p:spPr>
        <p:txBody>
          <a:bodyPr wrap="square" lIns="0" tIns="0" rIns="0" bIns="0" rtlCol="0" anchor="ctr"/>
          <a:lstStyle/>
          <a:p>
            <a:pPr indent="0" marL="0">
              <a:buNone/>
            </a:pPr>
            <a:r>
              <a:rPr lang="en-US" sz="1150" dirty="0">
                <a:solidFill>
                  <a:srgbClr val="E9F2EC"/>
                </a:solidFill>
                <a:latin typeface="Calibri" pitchFamily="34" charset="0"/>
                <a:ea typeface="Calibri" pitchFamily="34" charset="-122"/>
                <a:cs typeface="Calibri" pitchFamily="34" charset="-120"/>
              </a:rPr>
              <a:t>sensitive documents leaked publicly</a:t>
            </a:r>
            <a:endParaRPr lang="en-US" sz="1150" dirty="0"/>
          </a:p>
        </p:txBody>
      </p:sp>
      <p:sp>
        <p:nvSpPr>
          <p:cNvPr id="11" name="Shape 9"/>
          <p:cNvSpPr/>
          <p:nvPr/>
        </p:nvSpPr>
        <p:spPr>
          <a:xfrm>
            <a:off x="7818120" y="1920240"/>
            <a:ext cx="3429000" cy="1417320"/>
          </a:xfrm>
          <a:prstGeom prst="roundRect">
            <a:avLst>
              <a:gd name="adj" fmla="val 6452"/>
            </a:avLst>
          </a:prstGeom>
          <a:solidFill>
            <a:srgbClr val="0B5E34"/>
          </a:solidFill>
          <a:ln/>
        </p:spPr>
      </p:sp>
      <p:sp>
        <p:nvSpPr>
          <p:cNvPr id="12" name="Text 10"/>
          <p:cNvSpPr/>
          <p:nvPr/>
        </p:nvSpPr>
        <p:spPr>
          <a:xfrm>
            <a:off x="8046720" y="2057400"/>
            <a:ext cx="2971800" cy="685800"/>
          </a:xfrm>
          <a:prstGeom prst="rect">
            <a:avLst/>
          </a:prstGeom>
          <a:noFill/>
          <a:ln/>
        </p:spPr>
        <p:txBody>
          <a:bodyPr wrap="square" lIns="0" tIns="0" rIns="0" bIns="0" rtlCol="0" anchor="ctr"/>
          <a:lstStyle/>
          <a:p>
            <a:pPr indent="0" marL="0">
              <a:buNone/>
            </a:pPr>
            <a:r>
              <a:rPr lang="en-US" sz="3000" b="1" dirty="0">
                <a:solidFill>
                  <a:srgbClr val="E8A93A"/>
                </a:solidFill>
                <a:latin typeface="Cambria" pitchFamily="34" charset="0"/>
                <a:ea typeface="Cambria" pitchFamily="34" charset="-122"/>
                <a:cs typeface="Cambria" pitchFamily="34" charset="-120"/>
              </a:rPr>
              <a:t>€250K</a:t>
            </a:r>
            <a:endParaRPr lang="en-US" sz="3000" dirty="0"/>
          </a:p>
        </p:txBody>
      </p:sp>
      <p:sp>
        <p:nvSpPr>
          <p:cNvPr id="13" name="Text 11"/>
          <p:cNvSpPr/>
          <p:nvPr/>
        </p:nvSpPr>
        <p:spPr>
          <a:xfrm>
            <a:off x="8046720" y="2761488"/>
            <a:ext cx="2971800" cy="502920"/>
          </a:xfrm>
          <a:prstGeom prst="rect">
            <a:avLst/>
          </a:prstGeom>
          <a:noFill/>
          <a:ln/>
        </p:spPr>
        <p:txBody>
          <a:bodyPr wrap="square" lIns="0" tIns="0" rIns="0" bIns="0" rtlCol="0" anchor="ctr"/>
          <a:lstStyle/>
          <a:p>
            <a:pPr indent="0" marL="0">
              <a:buNone/>
            </a:pPr>
            <a:r>
              <a:rPr lang="en-US" sz="1150" dirty="0">
                <a:solidFill>
                  <a:srgbClr val="E9F2EC"/>
                </a:solidFill>
                <a:latin typeface="Calibri" pitchFamily="34" charset="0"/>
                <a:ea typeface="Calibri" pitchFamily="34" charset="-122"/>
                <a:cs typeface="Calibri" pitchFamily="34" charset="-120"/>
              </a:rPr>
              <a:t>ransom demanded from Sterling Bank by the same actor</a:t>
            </a:r>
            <a:endParaRPr lang="en-US" sz="1150" dirty="0"/>
          </a:p>
        </p:txBody>
      </p:sp>
      <p:sp>
        <p:nvSpPr>
          <p:cNvPr id="14" name="Text 12"/>
          <p:cNvSpPr/>
          <p:nvPr/>
        </p:nvSpPr>
        <p:spPr>
          <a:xfrm>
            <a:off x="502920" y="3703320"/>
            <a:ext cx="11185855" cy="2011680"/>
          </a:xfrm>
          <a:prstGeom prst="rect">
            <a:avLst/>
          </a:prstGeom>
          <a:noFill/>
          <a:ln/>
        </p:spPr>
        <p:txBody>
          <a:bodyPr wrap="square" lIns="0" tIns="0" rIns="0" bIns="0" rtlCol="0" anchor="t"/>
          <a:lstStyle/>
          <a:p>
            <a:pPr marL="228600" indent="-228600">
              <a:lnSpc>
                <a:spcPts val="1664"/>
              </a:lnSpc>
              <a:spcAft>
                <a:spcPts val="900"/>
              </a:spcAft>
              <a:buSzPct val="100000"/>
              <a:buChar char="▪"/>
            </a:pPr>
            <a:r>
              <a:rPr lang="en-US" sz="1300" dirty="0">
                <a:solidFill>
                  <a:srgbClr val="E9F2EC"/>
                </a:solidFill>
                <a:latin typeface="Calibri" pitchFamily="34" charset="0"/>
                <a:ea typeface="Calibri" pitchFamily="34" charset="-122"/>
                <a:cs typeface="Calibri" pitchFamily="34" charset="-120"/>
              </a:rPr>
              <a:t>Banks, courts, and the EFCC all rely on CAC records for due diligence and fraud investigation — the breach undermines national anti-money-laundering reforms.</a:t>
            </a:r>
            <a:endParaRPr lang="en-US" sz="1300" dirty="0"/>
          </a:p>
          <a:p>
            <a:pPr marL="228600" indent="-228600">
              <a:lnSpc>
                <a:spcPts val="1664"/>
              </a:lnSpc>
              <a:spcAft>
                <a:spcPts val="900"/>
              </a:spcAft>
              <a:buSzPct val="100000"/>
              <a:buChar char="▪"/>
            </a:pPr>
            <a:r>
              <a:rPr lang="en-US" sz="1300" dirty="0">
                <a:solidFill>
                  <a:srgbClr val="E9F2EC"/>
                </a:solidFill>
                <a:latin typeface="Calibri" pitchFamily="34" charset="0"/>
                <a:ea typeface="Calibri" pitchFamily="34" charset="-122"/>
                <a:cs typeface="Calibri" pitchFamily="34" charset="-120"/>
              </a:rPr>
              <a:t>CAC shut down its company-registration portal to contain the damage; the NDPC opened a full investigation.</a:t>
            </a:r>
            <a:endParaRPr lang="en-US" sz="1300" dirty="0"/>
          </a:p>
          <a:p>
            <a:pPr marL="228600" indent="-228600">
              <a:lnSpc>
                <a:spcPts val="1664"/>
              </a:lnSpc>
              <a:spcAft>
                <a:spcPts val="900"/>
              </a:spcAft>
              <a:buSzPct val="100000"/>
              <a:buChar char="▪"/>
            </a:pPr>
            <a:r>
              <a:rPr lang="en-US" sz="1300" dirty="0">
                <a:solidFill>
                  <a:srgbClr val="E9F2EC"/>
                </a:solidFill>
                <a:latin typeface="Calibri" pitchFamily="34" charset="0"/>
                <a:ea typeface="Calibri" pitchFamily="34" charset="-122"/>
                <a:cs typeface="Calibri" pitchFamily="34" charset="-120"/>
              </a:rPr>
              <a:t>ByteToBreach specializes in stealing and selling data rather than encrypting it — a shift from classic ransomware to data-theft-and-extortion.</a:t>
            </a:r>
            <a:endParaRPr lang="en-US" sz="1300" dirty="0"/>
          </a:p>
        </p:txBody>
      </p:sp>
      <p:sp>
        <p:nvSpPr>
          <p:cNvPr id="15" name="Text 13"/>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BFD8C9"/>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ATTACK SURFACE</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Who’s in the crosshairs</a:t>
            </a:r>
            <a:endParaRPr lang="en-US" sz="3000" dirty="0"/>
          </a:p>
        </p:txBody>
      </p:sp>
      <p:sp>
        <p:nvSpPr>
          <p:cNvPr id="4" name="Shape 2"/>
          <p:cNvSpPr/>
          <p:nvPr/>
        </p:nvSpPr>
        <p:spPr>
          <a:xfrm>
            <a:off x="502920" y="1645920"/>
            <a:ext cx="5349240" cy="1691640"/>
          </a:xfrm>
          <a:prstGeom prst="roundRect">
            <a:avLst>
              <a:gd name="adj" fmla="val 5405"/>
            </a:avLst>
          </a:prstGeom>
          <a:solidFill>
            <a:srgbClr val="F1F5F2"/>
          </a:solidFill>
          <a:ln/>
          <a:effectLst>
            <a:outerShdw sx="100000" sy="100000" kx="0" ky="0" algn="bl" rotWithShape="0" blurRad="76200" dist="25400" dir="5400000">
              <a:srgbClr val="1B2B22">
                <a:alpha val="14000"/>
              </a:srgbClr>
            </a:outerShdw>
          </a:effectLst>
        </p:spPr>
      </p:sp>
      <p:sp>
        <p:nvSpPr>
          <p:cNvPr id="5" name="Shape 3"/>
          <p:cNvSpPr/>
          <p:nvPr/>
        </p:nvSpPr>
        <p:spPr>
          <a:xfrm>
            <a:off x="758952" y="1901952"/>
            <a:ext cx="621792" cy="621792"/>
          </a:xfrm>
          <a:prstGeom prst="ellipse">
            <a:avLst/>
          </a:prstGeom>
          <a:solidFill>
            <a:srgbClr val="0B5E34"/>
          </a:solidFill>
          <a:ln/>
        </p:spPr>
      </p:sp>
      <p:pic>
        <p:nvPicPr>
          <p:cNvPr id="6" name="Image 0" descr="preencoded.png">    </p:cNvPr>
          <p:cNvPicPr>
            <a:picLocks noChangeAspect="1"/>
          </p:cNvPicPr>
          <p:nvPr/>
        </p:nvPicPr>
        <p:blipFill>
          <a:blip r:embed="rId1"/>
          <a:stretch>
            <a:fillRect/>
          </a:stretch>
        </p:blipFill>
        <p:spPr>
          <a:xfrm>
            <a:off x="908182" y="2051182"/>
            <a:ext cx="323332" cy="323332"/>
          </a:xfrm>
          <a:prstGeom prst="rect">
            <a:avLst/>
          </a:prstGeom>
        </p:spPr>
      </p:pic>
      <p:sp>
        <p:nvSpPr>
          <p:cNvPr id="7" name="Text 4"/>
          <p:cNvSpPr/>
          <p:nvPr/>
        </p:nvSpPr>
        <p:spPr>
          <a:xfrm>
            <a:off x="1554480" y="1901952"/>
            <a:ext cx="4069080" cy="457200"/>
          </a:xfrm>
          <a:prstGeom prst="rect">
            <a:avLst/>
          </a:prstGeom>
          <a:noFill/>
          <a:ln/>
        </p:spPr>
        <p:txBody>
          <a:bodyPr wrap="square" lIns="0" tIns="0" rIns="0" bIns="0" rtlCol="0" anchor="ctr"/>
          <a:lstStyle/>
          <a:p>
            <a:pPr indent="0" marL="0">
              <a:buNone/>
            </a:pPr>
            <a:r>
              <a:rPr lang="en-US" sz="1650" b="1" dirty="0">
                <a:solidFill>
                  <a:srgbClr val="17231C"/>
                </a:solidFill>
                <a:latin typeface="Cambria" pitchFamily="34" charset="0"/>
                <a:ea typeface="Cambria" pitchFamily="34" charset="-122"/>
                <a:cs typeface="Cambria" pitchFamily="34" charset="-120"/>
              </a:rPr>
              <a:t>Banking &amp; Fintech</a:t>
            </a:r>
            <a:endParaRPr lang="en-US" sz="1650" dirty="0"/>
          </a:p>
        </p:txBody>
      </p:sp>
      <p:sp>
        <p:nvSpPr>
          <p:cNvPr id="8" name="Text 5"/>
          <p:cNvSpPr/>
          <p:nvPr/>
        </p:nvSpPr>
        <p:spPr>
          <a:xfrm>
            <a:off x="1554480" y="2377440"/>
            <a:ext cx="4069080" cy="777240"/>
          </a:xfrm>
          <a:prstGeom prst="rect">
            <a:avLst/>
          </a:prstGeom>
          <a:noFill/>
          <a:ln/>
        </p:spPr>
        <p:txBody>
          <a:bodyPr wrap="square" lIns="0" tIns="0" rIns="0" bIns="0" rtlCol="0" anchor="t"/>
          <a:lstStyle/>
          <a:p>
            <a:pPr indent="0" marL="0">
              <a:buNone/>
            </a:pPr>
            <a:r>
              <a:rPr lang="en-US" sz="1250" dirty="0">
                <a:solidFill>
                  <a:srgbClr val="5E6E66"/>
                </a:solidFill>
                <a:latin typeface="Calibri" pitchFamily="34" charset="0"/>
                <a:ea typeface="Calibri" pitchFamily="34" charset="-122"/>
                <a:cs typeface="Calibri" pitchFamily="34" charset="-120"/>
              </a:rPr>
              <a:t>Ransomware, credential theft, payment fraud</a:t>
            </a:r>
            <a:endParaRPr lang="en-US" sz="1250" dirty="0"/>
          </a:p>
        </p:txBody>
      </p:sp>
      <p:sp>
        <p:nvSpPr>
          <p:cNvPr id="9" name="Shape 6"/>
          <p:cNvSpPr/>
          <p:nvPr/>
        </p:nvSpPr>
        <p:spPr>
          <a:xfrm>
            <a:off x="6309360" y="1645920"/>
            <a:ext cx="5349240" cy="1691640"/>
          </a:xfrm>
          <a:prstGeom prst="roundRect">
            <a:avLst>
              <a:gd name="adj" fmla="val 5405"/>
            </a:avLst>
          </a:prstGeom>
          <a:solidFill>
            <a:srgbClr val="F1F5F2"/>
          </a:solidFill>
          <a:ln/>
          <a:effectLst>
            <a:outerShdw sx="100000" sy="100000" kx="0" ky="0" algn="bl" rotWithShape="0" blurRad="76200" dist="25400" dir="5400000">
              <a:srgbClr val="1B2B22">
                <a:alpha val="14000"/>
              </a:srgbClr>
            </a:outerShdw>
          </a:effectLst>
        </p:spPr>
      </p:sp>
      <p:sp>
        <p:nvSpPr>
          <p:cNvPr id="10" name="Shape 7"/>
          <p:cNvSpPr/>
          <p:nvPr/>
        </p:nvSpPr>
        <p:spPr>
          <a:xfrm>
            <a:off x="6565392" y="1901952"/>
            <a:ext cx="621792" cy="621792"/>
          </a:xfrm>
          <a:prstGeom prst="ellipse">
            <a:avLst/>
          </a:prstGeom>
          <a:solidFill>
            <a:srgbClr val="146B47"/>
          </a:solidFill>
          <a:ln/>
        </p:spPr>
      </p:sp>
      <p:pic>
        <p:nvPicPr>
          <p:cNvPr id="11" name="Image 1" descr="preencoded.png">    </p:cNvPr>
          <p:cNvPicPr>
            <a:picLocks noChangeAspect="1"/>
          </p:cNvPicPr>
          <p:nvPr/>
        </p:nvPicPr>
        <p:blipFill>
          <a:blip r:embed="rId2"/>
          <a:stretch>
            <a:fillRect/>
          </a:stretch>
        </p:blipFill>
        <p:spPr>
          <a:xfrm>
            <a:off x="6714622" y="2051182"/>
            <a:ext cx="323332" cy="323332"/>
          </a:xfrm>
          <a:prstGeom prst="rect">
            <a:avLst/>
          </a:prstGeom>
        </p:spPr>
      </p:pic>
      <p:sp>
        <p:nvSpPr>
          <p:cNvPr id="12" name="Text 8"/>
          <p:cNvSpPr/>
          <p:nvPr/>
        </p:nvSpPr>
        <p:spPr>
          <a:xfrm>
            <a:off x="7360920" y="1901952"/>
            <a:ext cx="4069080" cy="457200"/>
          </a:xfrm>
          <a:prstGeom prst="rect">
            <a:avLst/>
          </a:prstGeom>
          <a:noFill/>
          <a:ln/>
        </p:spPr>
        <p:txBody>
          <a:bodyPr wrap="square" lIns="0" tIns="0" rIns="0" bIns="0" rtlCol="0" anchor="ctr"/>
          <a:lstStyle/>
          <a:p>
            <a:pPr indent="0" marL="0">
              <a:buNone/>
            </a:pPr>
            <a:r>
              <a:rPr lang="en-US" sz="1650" b="1" dirty="0">
                <a:solidFill>
                  <a:srgbClr val="17231C"/>
                </a:solidFill>
                <a:latin typeface="Cambria" pitchFamily="34" charset="0"/>
                <a:ea typeface="Cambria" pitchFamily="34" charset="-122"/>
                <a:cs typeface="Cambria" pitchFamily="34" charset="-120"/>
              </a:rPr>
              <a:t>Government</a:t>
            </a:r>
            <a:endParaRPr lang="en-US" sz="1650" dirty="0"/>
          </a:p>
        </p:txBody>
      </p:sp>
      <p:sp>
        <p:nvSpPr>
          <p:cNvPr id="13" name="Text 9"/>
          <p:cNvSpPr/>
          <p:nvPr/>
        </p:nvSpPr>
        <p:spPr>
          <a:xfrm>
            <a:off x="7360920" y="2377440"/>
            <a:ext cx="4069080" cy="777240"/>
          </a:xfrm>
          <a:prstGeom prst="rect">
            <a:avLst/>
          </a:prstGeom>
          <a:noFill/>
          <a:ln/>
        </p:spPr>
        <p:txBody>
          <a:bodyPr wrap="square" lIns="0" tIns="0" rIns="0" bIns="0" rtlCol="0" anchor="t"/>
          <a:lstStyle/>
          <a:p>
            <a:pPr indent="0" marL="0">
              <a:buNone/>
            </a:pPr>
            <a:r>
              <a:rPr lang="en-US" sz="1250" dirty="0">
                <a:solidFill>
                  <a:srgbClr val="5E6E66"/>
                </a:solidFill>
                <a:latin typeface="Calibri" pitchFamily="34" charset="0"/>
                <a:ea typeface="Calibri" pitchFamily="34" charset="-122"/>
                <a:cs typeface="Calibri" pitchFamily="34" charset="-120"/>
              </a:rPr>
              <a:t>Registries, election-related systems (e.g. CAC)</a:t>
            </a:r>
            <a:endParaRPr lang="en-US" sz="1250" dirty="0"/>
          </a:p>
        </p:txBody>
      </p:sp>
      <p:sp>
        <p:nvSpPr>
          <p:cNvPr id="14" name="Shape 10"/>
          <p:cNvSpPr/>
          <p:nvPr/>
        </p:nvSpPr>
        <p:spPr>
          <a:xfrm>
            <a:off x="502920" y="3657600"/>
            <a:ext cx="5349240" cy="1691640"/>
          </a:xfrm>
          <a:prstGeom prst="roundRect">
            <a:avLst>
              <a:gd name="adj" fmla="val 5405"/>
            </a:avLst>
          </a:prstGeom>
          <a:solidFill>
            <a:srgbClr val="F1F5F2"/>
          </a:solidFill>
          <a:ln/>
          <a:effectLst>
            <a:outerShdw sx="100000" sy="100000" kx="0" ky="0" algn="bl" rotWithShape="0" blurRad="76200" dist="25400" dir="5400000">
              <a:srgbClr val="1B2B22">
                <a:alpha val="14000"/>
              </a:srgbClr>
            </a:outerShdw>
          </a:effectLst>
        </p:spPr>
      </p:sp>
      <p:sp>
        <p:nvSpPr>
          <p:cNvPr id="15" name="Shape 11"/>
          <p:cNvSpPr/>
          <p:nvPr/>
        </p:nvSpPr>
        <p:spPr>
          <a:xfrm>
            <a:off x="758952" y="3913632"/>
            <a:ext cx="621792" cy="621792"/>
          </a:xfrm>
          <a:prstGeom prst="ellipse">
            <a:avLst/>
          </a:prstGeom>
          <a:solidFill>
            <a:srgbClr val="0B5E34"/>
          </a:solidFill>
          <a:ln/>
        </p:spPr>
      </p:sp>
      <p:pic>
        <p:nvPicPr>
          <p:cNvPr id="16" name="Image 2" descr="preencoded.png">    </p:cNvPr>
          <p:cNvPicPr>
            <a:picLocks noChangeAspect="1"/>
          </p:cNvPicPr>
          <p:nvPr/>
        </p:nvPicPr>
        <p:blipFill>
          <a:blip r:embed="rId3"/>
          <a:stretch>
            <a:fillRect/>
          </a:stretch>
        </p:blipFill>
        <p:spPr>
          <a:xfrm>
            <a:off x="908182" y="4062862"/>
            <a:ext cx="323332" cy="323332"/>
          </a:xfrm>
          <a:prstGeom prst="rect">
            <a:avLst/>
          </a:prstGeom>
        </p:spPr>
      </p:pic>
      <p:sp>
        <p:nvSpPr>
          <p:cNvPr id="17" name="Text 12"/>
          <p:cNvSpPr/>
          <p:nvPr/>
        </p:nvSpPr>
        <p:spPr>
          <a:xfrm>
            <a:off x="1554480" y="3913632"/>
            <a:ext cx="4069080" cy="457200"/>
          </a:xfrm>
          <a:prstGeom prst="rect">
            <a:avLst/>
          </a:prstGeom>
          <a:noFill/>
          <a:ln/>
        </p:spPr>
        <p:txBody>
          <a:bodyPr wrap="square" lIns="0" tIns="0" rIns="0" bIns="0" rtlCol="0" anchor="ctr"/>
          <a:lstStyle/>
          <a:p>
            <a:pPr indent="0" marL="0">
              <a:buNone/>
            </a:pPr>
            <a:r>
              <a:rPr lang="en-US" sz="1650" b="1" dirty="0">
                <a:solidFill>
                  <a:srgbClr val="17231C"/>
                </a:solidFill>
                <a:latin typeface="Cambria" pitchFamily="34" charset="0"/>
                <a:ea typeface="Cambria" pitchFamily="34" charset="-122"/>
                <a:cs typeface="Cambria" pitchFamily="34" charset="-120"/>
              </a:rPr>
              <a:t>Telecom</a:t>
            </a:r>
            <a:endParaRPr lang="en-US" sz="1650" dirty="0"/>
          </a:p>
        </p:txBody>
      </p:sp>
      <p:sp>
        <p:nvSpPr>
          <p:cNvPr id="18" name="Text 13"/>
          <p:cNvSpPr/>
          <p:nvPr/>
        </p:nvSpPr>
        <p:spPr>
          <a:xfrm>
            <a:off x="1554480" y="4389120"/>
            <a:ext cx="4069080" cy="777240"/>
          </a:xfrm>
          <a:prstGeom prst="rect">
            <a:avLst/>
          </a:prstGeom>
          <a:noFill/>
          <a:ln/>
        </p:spPr>
        <p:txBody>
          <a:bodyPr wrap="square" lIns="0" tIns="0" rIns="0" bIns="0" rtlCol="0" anchor="t"/>
          <a:lstStyle/>
          <a:p>
            <a:pPr indent="0" marL="0">
              <a:buNone/>
            </a:pPr>
            <a:r>
              <a:rPr lang="en-US" sz="1250" dirty="0">
                <a:solidFill>
                  <a:srgbClr val="5E6E66"/>
                </a:solidFill>
                <a:latin typeface="Calibri" pitchFamily="34" charset="0"/>
                <a:ea typeface="Calibri" pitchFamily="34" charset="-122"/>
                <a:cs typeface="Calibri" pitchFamily="34" charset="-120"/>
              </a:rPr>
              <a:t>Subscriber data, SIM-swap-enabled fraud</a:t>
            </a:r>
            <a:endParaRPr lang="en-US" sz="1250" dirty="0"/>
          </a:p>
        </p:txBody>
      </p:sp>
      <p:sp>
        <p:nvSpPr>
          <p:cNvPr id="19" name="Shape 14"/>
          <p:cNvSpPr/>
          <p:nvPr/>
        </p:nvSpPr>
        <p:spPr>
          <a:xfrm>
            <a:off x="6309360" y="3657600"/>
            <a:ext cx="5349240" cy="1691640"/>
          </a:xfrm>
          <a:prstGeom prst="roundRect">
            <a:avLst>
              <a:gd name="adj" fmla="val 5405"/>
            </a:avLst>
          </a:prstGeom>
          <a:solidFill>
            <a:srgbClr val="F1F5F2"/>
          </a:solidFill>
          <a:ln/>
          <a:effectLst>
            <a:outerShdw sx="100000" sy="100000" kx="0" ky="0" algn="bl" rotWithShape="0" blurRad="76200" dist="25400" dir="5400000">
              <a:srgbClr val="1B2B22">
                <a:alpha val="14000"/>
              </a:srgbClr>
            </a:outerShdw>
          </a:effectLst>
        </p:spPr>
      </p:sp>
      <p:sp>
        <p:nvSpPr>
          <p:cNvPr id="20" name="Shape 15"/>
          <p:cNvSpPr/>
          <p:nvPr/>
        </p:nvSpPr>
        <p:spPr>
          <a:xfrm>
            <a:off x="6565392" y="3913632"/>
            <a:ext cx="621792" cy="621792"/>
          </a:xfrm>
          <a:prstGeom prst="ellipse">
            <a:avLst/>
          </a:prstGeom>
          <a:solidFill>
            <a:srgbClr val="146B47"/>
          </a:solidFill>
          <a:ln/>
        </p:spPr>
      </p:sp>
      <p:pic>
        <p:nvPicPr>
          <p:cNvPr id="21" name="Image 3" descr="preencoded.png">    </p:cNvPr>
          <p:cNvPicPr>
            <a:picLocks noChangeAspect="1"/>
          </p:cNvPicPr>
          <p:nvPr/>
        </p:nvPicPr>
        <p:blipFill>
          <a:blip r:embed="rId4"/>
          <a:stretch>
            <a:fillRect/>
          </a:stretch>
        </p:blipFill>
        <p:spPr>
          <a:xfrm>
            <a:off x="6714622" y="4062862"/>
            <a:ext cx="323332" cy="323332"/>
          </a:xfrm>
          <a:prstGeom prst="rect">
            <a:avLst/>
          </a:prstGeom>
        </p:spPr>
      </p:pic>
      <p:sp>
        <p:nvSpPr>
          <p:cNvPr id="22" name="Text 16"/>
          <p:cNvSpPr/>
          <p:nvPr/>
        </p:nvSpPr>
        <p:spPr>
          <a:xfrm>
            <a:off x="7360920" y="3913632"/>
            <a:ext cx="4069080" cy="457200"/>
          </a:xfrm>
          <a:prstGeom prst="rect">
            <a:avLst/>
          </a:prstGeom>
          <a:noFill/>
          <a:ln/>
        </p:spPr>
        <p:txBody>
          <a:bodyPr wrap="square" lIns="0" tIns="0" rIns="0" bIns="0" rtlCol="0" anchor="ctr"/>
          <a:lstStyle/>
          <a:p>
            <a:pPr indent="0" marL="0">
              <a:buNone/>
            </a:pPr>
            <a:r>
              <a:rPr lang="en-US" sz="1650" b="1" dirty="0">
                <a:solidFill>
                  <a:srgbClr val="17231C"/>
                </a:solidFill>
                <a:latin typeface="Cambria" pitchFamily="34" charset="0"/>
                <a:ea typeface="Cambria" pitchFamily="34" charset="-122"/>
                <a:cs typeface="Cambria" pitchFamily="34" charset="-120"/>
              </a:rPr>
              <a:t>Healthcare</a:t>
            </a:r>
            <a:endParaRPr lang="en-US" sz="1650" dirty="0"/>
          </a:p>
        </p:txBody>
      </p:sp>
      <p:sp>
        <p:nvSpPr>
          <p:cNvPr id="23" name="Text 17"/>
          <p:cNvSpPr/>
          <p:nvPr/>
        </p:nvSpPr>
        <p:spPr>
          <a:xfrm>
            <a:off x="7360920" y="4389120"/>
            <a:ext cx="4069080" cy="777240"/>
          </a:xfrm>
          <a:prstGeom prst="rect">
            <a:avLst/>
          </a:prstGeom>
          <a:noFill/>
          <a:ln/>
        </p:spPr>
        <p:txBody>
          <a:bodyPr wrap="square" lIns="0" tIns="0" rIns="0" bIns="0" rtlCol="0" anchor="t"/>
          <a:lstStyle/>
          <a:p>
            <a:pPr indent="0" marL="0">
              <a:buNone/>
            </a:pPr>
            <a:r>
              <a:rPr lang="en-US" sz="1250" dirty="0">
                <a:solidFill>
                  <a:srgbClr val="5E6E66"/>
                </a:solidFill>
                <a:latin typeface="Calibri" pitchFamily="34" charset="0"/>
                <a:ea typeface="Calibri" pitchFamily="34" charset="-122"/>
                <a:cs typeface="Calibri" pitchFamily="34" charset="-120"/>
              </a:rPr>
              <a:t>Patient data theft, system disruption</a:t>
            </a:r>
            <a:endParaRPr lang="en-US" sz="1250" dirty="0"/>
          </a:p>
        </p:txBody>
      </p:sp>
      <p:sp>
        <p:nvSpPr>
          <p:cNvPr id="24" name="Text 18"/>
          <p:cNvSpPr/>
          <p:nvPr/>
        </p:nvSpPr>
        <p:spPr>
          <a:xfrm>
            <a:off x="502920" y="5715000"/>
            <a:ext cx="11185855" cy="365760"/>
          </a:xfrm>
          <a:prstGeom prst="rect">
            <a:avLst/>
          </a:prstGeom>
          <a:noFill/>
          <a:ln/>
        </p:spPr>
        <p:txBody>
          <a:bodyPr wrap="square" lIns="0" tIns="0" rIns="0" bIns="0" rtlCol="0" anchor="ctr"/>
          <a:lstStyle/>
          <a:p>
            <a:pPr indent="0" marL="0">
              <a:buNone/>
            </a:pPr>
            <a:r>
              <a:rPr lang="en-US" sz="1300" b="1" i="1" dirty="0">
                <a:solidFill>
                  <a:srgbClr val="0B5E34"/>
                </a:solidFill>
                <a:latin typeface="Calibri" pitchFamily="34" charset="0"/>
                <a:ea typeface="Calibri" pitchFamily="34" charset="-122"/>
                <a:cs typeface="Calibri" pitchFamily="34" charset="-120"/>
              </a:rPr>
              <a:t>Common thread: attacks are increasingly organized, targeted, and identity-driven — not opportunistic.</a:t>
            </a:r>
            <a:endParaRPr lang="en-US" sz="1300" dirty="0"/>
          </a:p>
        </p:txBody>
      </p:sp>
      <p:sp>
        <p:nvSpPr>
          <p:cNvPr id="25" name="Text 19"/>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REGULATORY RESPONSE</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Data protection gets real teeth</a:t>
            </a:r>
            <a:endParaRPr lang="en-US" sz="3000" dirty="0"/>
          </a:p>
        </p:txBody>
      </p:sp>
      <p:sp>
        <p:nvSpPr>
          <p:cNvPr id="4" name="Shape 2"/>
          <p:cNvSpPr/>
          <p:nvPr/>
        </p:nvSpPr>
        <p:spPr>
          <a:xfrm>
            <a:off x="502920" y="169164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5" name="Text 3"/>
          <p:cNvSpPr/>
          <p:nvPr/>
        </p:nvSpPr>
        <p:spPr>
          <a:xfrm>
            <a:off x="704088" y="1819656"/>
            <a:ext cx="4946904" cy="1022299"/>
          </a:xfrm>
          <a:prstGeom prst="rect">
            <a:avLst/>
          </a:prstGeom>
          <a:noFill/>
          <a:ln/>
        </p:spPr>
        <p:txBody>
          <a:bodyPr wrap="square" lIns="0" tIns="0" rIns="0" bIns="0" rtlCol="0" anchor="b"/>
          <a:lstStyle/>
          <a:p>
            <a:pPr algn="l" indent="0" marL="0">
              <a:buNone/>
            </a:pPr>
            <a:r>
              <a:rPr lang="en-US" sz="2600" b="1" dirty="0">
                <a:solidFill>
                  <a:srgbClr val="0B5E34"/>
                </a:solidFill>
                <a:latin typeface="Cambria" pitchFamily="34" charset="0"/>
                <a:ea typeface="Cambria" pitchFamily="34" charset="-122"/>
                <a:cs typeface="Cambria" pitchFamily="34" charset="-120"/>
              </a:rPr>
              <a:t>Sep 19, 2025</a:t>
            </a:r>
            <a:endParaRPr lang="en-US" sz="2600" dirty="0"/>
          </a:p>
        </p:txBody>
      </p:sp>
      <p:sp>
        <p:nvSpPr>
          <p:cNvPr id="6" name="Text 4"/>
          <p:cNvSpPr/>
          <p:nvPr/>
        </p:nvSpPr>
        <p:spPr>
          <a:xfrm>
            <a:off x="704088" y="287121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NDPA General Application &amp; Implementation Directive (GAID) takes effect</a:t>
            </a:r>
            <a:endParaRPr lang="en-US" sz="1150" dirty="0"/>
          </a:p>
        </p:txBody>
      </p:sp>
      <p:sp>
        <p:nvSpPr>
          <p:cNvPr id="7" name="Shape 5"/>
          <p:cNvSpPr/>
          <p:nvPr/>
        </p:nvSpPr>
        <p:spPr>
          <a:xfrm>
            <a:off x="6309360" y="169164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8" name="Text 6"/>
          <p:cNvSpPr/>
          <p:nvPr/>
        </p:nvSpPr>
        <p:spPr>
          <a:xfrm>
            <a:off x="6510528" y="1819656"/>
            <a:ext cx="4946904" cy="1022299"/>
          </a:xfrm>
          <a:prstGeom prst="rect">
            <a:avLst/>
          </a:prstGeom>
          <a:noFill/>
          <a:ln/>
        </p:spPr>
        <p:txBody>
          <a:bodyPr wrap="square" lIns="0" tIns="0" rIns="0" bIns="0" rtlCol="0" anchor="b"/>
          <a:lstStyle/>
          <a:p>
            <a:pPr algn="l" indent="0" marL="0">
              <a:buNone/>
            </a:pPr>
            <a:r>
              <a:rPr lang="en-US" sz="2600" b="1" dirty="0">
                <a:solidFill>
                  <a:srgbClr val="0B5E34"/>
                </a:solidFill>
                <a:latin typeface="Cambria" pitchFamily="34" charset="0"/>
                <a:ea typeface="Cambria" pitchFamily="34" charset="-122"/>
                <a:cs typeface="Cambria" pitchFamily="34" charset="-120"/>
              </a:rPr>
              <a:t>1,368</a:t>
            </a:r>
            <a:endParaRPr lang="en-US" sz="2600" dirty="0"/>
          </a:p>
        </p:txBody>
      </p:sp>
      <p:sp>
        <p:nvSpPr>
          <p:cNvPr id="9" name="Text 7"/>
          <p:cNvSpPr/>
          <p:nvPr/>
        </p:nvSpPr>
        <p:spPr>
          <a:xfrm>
            <a:off x="6510528" y="287121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organizations issued compliance notices in Aug 2025 (banks, insurers, gaming, pension firms)</a:t>
            </a:r>
            <a:endParaRPr lang="en-US" sz="1150" dirty="0"/>
          </a:p>
        </p:txBody>
      </p:sp>
      <p:sp>
        <p:nvSpPr>
          <p:cNvPr id="10" name="Shape 8"/>
          <p:cNvSpPr/>
          <p:nvPr/>
        </p:nvSpPr>
        <p:spPr>
          <a:xfrm>
            <a:off x="502920" y="402336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11" name="Text 9"/>
          <p:cNvSpPr/>
          <p:nvPr/>
        </p:nvSpPr>
        <p:spPr>
          <a:xfrm>
            <a:off x="704088" y="4151376"/>
            <a:ext cx="4946904" cy="1022299"/>
          </a:xfrm>
          <a:prstGeom prst="rect">
            <a:avLst/>
          </a:prstGeom>
          <a:noFill/>
          <a:ln/>
        </p:spPr>
        <p:txBody>
          <a:bodyPr wrap="square" lIns="0" tIns="0" rIns="0" bIns="0" rtlCol="0" anchor="b"/>
          <a:lstStyle/>
          <a:p>
            <a:pPr algn="l" indent="0" marL="0">
              <a:buNone/>
            </a:pPr>
            <a:r>
              <a:rPr lang="en-US" sz="2600" b="1" dirty="0">
                <a:solidFill>
                  <a:srgbClr val="0B5E34"/>
                </a:solidFill>
                <a:latin typeface="Cambria" pitchFamily="34" charset="0"/>
                <a:ea typeface="Cambria" pitchFamily="34" charset="-122"/>
                <a:cs typeface="Cambria" pitchFamily="34" charset="-120"/>
              </a:rPr>
              <a:t>$32.8M</a:t>
            </a:r>
            <a:endParaRPr lang="en-US" sz="2600" dirty="0"/>
          </a:p>
        </p:txBody>
      </p:sp>
      <p:sp>
        <p:nvSpPr>
          <p:cNvPr id="12" name="Text 10"/>
          <p:cNvSpPr/>
          <p:nvPr/>
        </p:nvSpPr>
        <p:spPr>
          <a:xfrm>
            <a:off x="704088" y="520293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fine against Meta (Feb 2025) for NDPA breaches, incl. cross-border transfer violations</a:t>
            </a:r>
            <a:endParaRPr lang="en-US" sz="1150" dirty="0"/>
          </a:p>
        </p:txBody>
      </p:sp>
      <p:sp>
        <p:nvSpPr>
          <p:cNvPr id="13" name="Shape 11"/>
          <p:cNvSpPr/>
          <p:nvPr/>
        </p:nvSpPr>
        <p:spPr>
          <a:xfrm>
            <a:off x="6309360" y="4023360"/>
            <a:ext cx="5349240" cy="1965960"/>
          </a:xfrm>
          <a:prstGeom prst="roundRect">
            <a:avLst>
              <a:gd name="adj" fmla="val 4186"/>
            </a:avLst>
          </a:prstGeom>
          <a:solidFill>
            <a:srgbClr val="F1F5F2"/>
          </a:solidFill>
          <a:ln/>
          <a:effectLst>
            <a:outerShdw sx="100000" sy="100000" kx="0" ky="0" algn="bl" rotWithShape="0" blurRad="76200" dist="25400" dir="5400000">
              <a:srgbClr val="1B2B22">
                <a:alpha val="16000"/>
              </a:srgbClr>
            </a:outerShdw>
          </a:effectLst>
        </p:spPr>
      </p:sp>
      <p:sp>
        <p:nvSpPr>
          <p:cNvPr id="14" name="Text 12"/>
          <p:cNvSpPr/>
          <p:nvPr/>
        </p:nvSpPr>
        <p:spPr>
          <a:xfrm>
            <a:off x="6510528" y="4151376"/>
            <a:ext cx="4946904" cy="1022299"/>
          </a:xfrm>
          <a:prstGeom prst="rect">
            <a:avLst/>
          </a:prstGeom>
          <a:noFill/>
          <a:ln/>
        </p:spPr>
        <p:txBody>
          <a:bodyPr wrap="square" lIns="0" tIns="0" rIns="0" bIns="0" rtlCol="0" anchor="b"/>
          <a:lstStyle/>
          <a:p>
            <a:pPr algn="l" indent="0" marL="0">
              <a:buNone/>
            </a:pPr>
            <a:r>
              <a:rPr lang="en-US" sz="2600" b="1" dirty="0">
                <a:solidFill>
                  <a:srgbClr val="0B5E34"/>
                </a:solidFill>
                <a:latin typeface="Cambria" pitchFamily="34" charset="0"/>
                <a:ea typeface="Cambria" pitchFamily="34" charset="-122"/>
                <a:cs typeface="Cambria" pitchFamily="34" charset="-120"/>
              </a:rPr>
              <a:t>₦766.2M</a:t>
            </a:r>
            <a:endParaRPr lang="en-US" sz="2600" dirty="0"/>
          </a:p>
        </p:txBody>
      </p:sp>
      <p:sp>
        <p:nvSpPr>
          <p:cNvPr id="15" name="Text 13"/>
          <p:cNvSpPr/>
          <p:nvPr/>
        </p:nvSpPr>
        <p:spPr>
          <a:xfrm>
            <a:off x="6510528" y="5202936"/>
            <a:ext cx="4946904" cy="707746"/>
          </a:xfrm>
          <a:prstGeom prst="rect">
            <a:avLst/>
          </a:prstGeom>
          <a:noFill/>
          <a:ln/>
        </p:spPr>
        <p:txBody>
          <a:bodyPr wrap="square" lIns="0" tIns="0" rIns="0" bIns="0" rtlCol="0" anchor="t"/>
          <a:lstStyle/>
          <a:p>
            <a:pPr algn="l" indent="0" marL="0">
              <a:buNone/>
            </a:pPr>
            <a:r>
              <a:rPr lang="en-US" sz="1150" dirty="0">
                <a:solidFill>
                  <a:srgbClr val="5E6E66"/>
                </a:solidFill>
                <a:latin typeface="Calibri" pitchFamily="34" charset="0"/>
                <a:ea typeface="Calibri" pitchFamily="34" charset="-122"/>
                <a:cs typeface="Calibri" pitchFamily="34" charset="-120"/>
              </a:rPr>
              <a:t>fine against MultiChoice Nigeria (Jul 2025) for privacy violations</a:t>
            </a:r>
            <a:endParaRPr lang="en-US" sz="1150" dirty="0"/>
          </a:p>
        </p:txBody>
      </p:sp>
      <p:sp>
        <p:nvSpPr>
          <p:cNvPr id="16" name="Text 14"/>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10</a:t>
            </a:r>
            <a:endParaRPr lang="en-US" sz="1000" dirty="0"/>
          </a:p>
        </p:txBody>
      </p:sp>
      <p:sp>
        <p:nvSpPr>
          <p:cNvPr id="17" name="Text 15"/>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F0EB"/>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REGULATORY RESPONSE</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The Cybercrimes Amendment Act, 2024</a:t>
            </a:r>
            <a:endParaRPr lang="en-US" sz="3000" dirty="0"/>
          </a:p>
        </p:txBody>
      </p:sp>
      <p:sp>
        <p:nvSpPr>
          <p:cNvPr id="4" name="Shape 2"/>
          <p:cNvSpPr/>
          <p:nvPr/>
        </p:nvSpPr>
        <p:spPr>
          <a:xfrm>
            <a:off x="502920" y="1691640"/>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5" name="Shape 3"/>
          <p:cNvSpPr/>
          <p:nvPr/>
        </p:nvSpPr>
        <p:spPr>
          <a:xfrm>
            <a:off x="704088" y="1874520"/>
            <a:ext cx="493776" cy="493776"/>
          </a:xfrm>
          <a:prstGeom prst="ellipse">
            <a:avLst/>
          </a:prstGeom>
          <a:solidFill>
            <a:srgbClr val="0B5E34"/>
          </a:solidFill>
          <a:ln/>
        </p:spPr>
      </p:sp>
      <p:pic>
        <p:nvPicPr>
          <p:cNvPr id="6" name="Image 0" descr="preencoded.png">    </p:cNvPr>
          <p:cNvPicPr>
            <a:picLocks noChangeAspect="1"/>
          </p:cNvPicPr>
          <p:nvPr/>
        </p:nvPicPr>
        <p:blipFill>
          <a:blip r:embed="rId1"/>
          <a:stretch>
            <a:fillRect/>
          </a:stretch>
        </p:blipFill>
        <p:spPr>
          <a:xfrm>
            <a:off x="822594" y="1993026"/>
            <a:ext cx="256764" cy="256764"/>
          </a:xfrm>
          <a:prstGeom prst="rect">
            <a:avLst/>
          </a:prstGeom>
        </p:spPr>
      </p:pic>
      <p:sp>
        <p:nvSpPr>
          <p:cNvPr id="7" name="Text 4"/>
          <p:cNvSpPr/>
          <p:nvPr/>
        </p:nvSpPr>
        <p:spPr>
          <a:xfrm>
            <a:off x="1463040" y="1764792"/>
            <a:ext cx="301752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72-hour reporting</a:t>
            </a:r>
            <a:endParaRPr lang="en-US" sz="1400" dirty="0"/>
          </a:p>
        </p:txBody>
      </p:sp>
      <p:sp>
        <p:nvSpPr>
          <p:cNvPr id="8" name="Text 5"/>
          <p:cNvSpPr/>
          <p:nvPr/>
        </p:nvSpPr>
        <p:spPr>
          <a:xfrm>
            <a:off x="4572000" y="1764792"/>
            <a:ext cx="6933895" cy="713232"/>
          </a:xfrm>
          <a:prstGeom prst="rect">
            <a:avLst/>
          </a:prstGeom>
          <a:noFill/>
          <a:ln/>
        </p:spPr>
        <p:txBody>
          <a:bodyPr wrap="square" lIns="0" tIns="0" rIns="0" bIns="0" rtlCol="0" anchor="ctr"/>
          <a:lstStyle/>
          <a:p>
            <a:pPr indent="0" marL="0">
              <a:buNone/>
            </a:pPr>
            <a:r>
              <a:rPr lang="en-US" sz="1200" dirty="0">
                <a:solidFill>
                  <a:srgbClr val="5E6E66"/>
                </a:solidFill>
                <a:latin typeface="Calibri" pitchFamily="34" charset="0"/>
                <a:ea typeface="Calibri" pitchFamily="34" charset="-122"/>
                <a:cs typeface="Calibri" pitchFamily="34" charset="-120"/>
              </a:rPr>
              <a:t>Anyone who notices an attack or intrusion must report it to the National CERT within 72 hours</a:t>
            </a:r>
            <a:endParaRPr lang="en-US" sz="1200" dirty="0"/>
          </a:p>
        </p:txBody>
      </p:sp>
      <p:sp>
        <p:nvSpPr>
          <p:cNvPr id="9" name="Shape 6"/>
          <p:cNvSpPr/>
          <p:nvPr/>
        </p:nvSpPr>
        <p:spPr>
          <a:xfrm>
            <a:off x="502920" y="2715768"/>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10" name="Shape 7"/>
          <p:cNvSpPr/>
          <p:nvPr/>
        </p:nvSpPr>
        <p:spPr>
          <a:xfrm>
            <a:off x="704088" y="2898648"/>
            <a:ext cx="493776" cy="493776"/>
          </a:xfrm>
          <a:prstGeom prst="ellipse">
            <a:avLst/>
          </a:prstGeom>
          <a:solidFill>
            <a:srgbClr val="146B47"/>
          </a:solidFill>
          <a:ln/>
        </p:spPr>
      </p:sp>
      <p:pic>
        <p:nvPicPr>
          <p:cNvPr id="11" name="Image 1" descr="preencoded.png">    </p:cNvPr>
          <p:cNvPicPr>
            <a:picLocks noChangeAspect="1"/>
          </p:cNvPicPr>
          <p:nvPr/>
        </p:nvPicPr>
        <p:blipFill>
          <a:blip r:embed="rId2"/>
          <a:stretch>
            <a:fillRect/>
          </a:stretch>
        </p:blipFill>
        <p:spPr>
          <a:xfrm>
            <a:off x="822594" y="3017154"/>
            <a:ext cx="256764" cy="256764"/>
          </a:xfrm>
          <a:prstGeom prst="rect">
            <a:avLst/>
          </a:prstGeom>
        </p:spPr>
      </p:pic>
      <p:sp>
        <p:nvSpPr>
          <p:cNvPr id="12" name="Text 8"/>
          <p:cNvSpPr/>
          <p:nvPr/>
        </p:nvSpPr>
        <p:spPr>
          <a:xfrm>
            <a:off x="1463040" y="2788920"/>
            <a:ext cx="301752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Two-year data retention</a:t>
            </a:r>
            <a:endParaRPr lang="en-US" sz="1400" dirty="0"/>
          </a:p>
        </p:txBody>
      </p:sp>
      <p:sp>
        <p:nvSpPr>
          <p:cNvPr id="13" name="Text 9"/>
          <p:cNvSpPr/>
          <p:nvPr/>
        </p:nvSpPr>
        <p:spPr>
          <a:xfrm>
            <a:off x="4572000" y="2788920"/>
            <a:ext cx="6933895" cy="713232"/>
          </a:xfrm>
          <a:prstGeom prst="rect">
            <a:avLst/>
          </a:prstGeom>
          <a:noFill/>
          <a:ln/>
        </p:spPr>
        <p:txBody>
          <a:bodyPr wrap="square" lIns="0" tIns="0" rIns="0" bIns="0" rtlCol="0" anchor="ctr"/>
          <a:lstStyle/>
          <a:p>
            <a:pPr indent="0" marL="0">
              <a:buNone/>
            </a:pPr>
            <a:r>
              <a:rPr lang="en-US" sz="1200" dirty="0">
                <a:solidFill>
                  <a:srgbClr val="5E6E66"/>
                </a:solidFill>
                <a:latin typeface="Calibri" pitchFamily="34" charset="0"/>
                <a:ea typeface="Calibri" pitchFamily="34" charset="-122"/>
                <a:cs typeface="Calibri" pitchFamily="34" charset="-120"/>
              </a:rPr>
              <a:t>Service providers must retain traffic data and subscriber information for two years</a:t>
            </a:r>
            <a:endParaRPr lang="en-US" sz="1200" dirty="0"/>
          </a:p>
        </p:txBody>
      </p:sp>
      <p:sp>
        <p:nvSpPr>
          <p:cNvPr id="14" name="Shape 10"/>
          <p:cNvSpPr/>
          <p:nvPr/>
        </p:nvSpPr>
        <p:spPr>
          <a:xfrm>
            <a:off x="502920" y="3739896"/>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15" name="Shape 11"/>
          <p:cNvSpPr/>
          <p:nvPr/>
        </p:nvSpPr>
        <p:spPr>
          <a:xfrm>
            <a:off x="704088" y="3922776"/>
            <a:ext cx="493776" cy="493776"/>
          </a:xfrm>
          <a:prstGeom prst="ellipse">
            <a:avLst/>
          </a:prstGeom>
          <a:solidFill>
            <a:srgbClr val="0B5E34"/>
          </a:solidFill>
          <a:ln/>
        </p:spPr>
      </p:sp>
      <p:pic>
        <p:nvPicPr>
          <p:cNvPr id="16" name="Image 2" descr="preencoded.png">    </p:cNvPr>
          <p:cNvPicPr>
            <a:picLocks noChangeAspect="1"/>
          </p:cNvPicPr>
          <p:nvPr/>
        </p:nvPicPr>
        <p:blipFill>
          <a:blip r:embed="rId3"/>
          <a:stretch>
            <a:fillRect/>
          </a:stretch>
        </p:blipFill>
        <p:spPr>
          <a:xfrm>
            <a:off x="822594" y="4041282"/>
            <a:ext cx="256764" cy="256764"/>
          </a:xfrm>
          <a:prstGeom prst="rect">
            <a:avLst/>
          </a:prstGeom>
        </p:spPr>
      </p:pic>
      <p:sp>
        <p:nvSpPr>
          <p:cNvPr id="17" name="Text 12"/>
          <p:cNvSpPr/>
          <p:nvPr/>
        </p:nvSpPr>
        <p:spPr>
          <a:xfrm>
            <a:off x="1463040" y="3813048"/>
            <a:ext cx="301752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Expanded surveillance</a:t>
            </a:r>
            <a:endParaRPr lang="en-US" sz="1400" dirty="0"/>
          </a:p>
        </p:txBody>
      </p:sp>
      <p:sp>
        <p:nvSpPr>
          <p:cNvPr id="18" name="Text 13"/>
          <p:cNvSpPr/>
          <p:nvPr/>
        </p:nvSpPr>
        <p:spPr>
          <a:xfrm>
            <a:off x="4572000" y="3813048"/>
            <a:ext cx="6933895" cy="713232"/>
          </a:xfrm>
          <a:prstGeom prst="rect">
            <a:avLst/>
          </a:prstGeom>
          <a:noFill/>
          <a:ln/>
        </p:spPr>
        <p:txBody>
          <a:bodyPr wrap="square" lIns="0" tIns="0" rIns="0" bIns="0" rtlCol="0" anchor="ctr"/>
          <a:lstStyle/>
          <a:p>
            <a:pPr indent="0" marL="0">
              <a:buNone/>
            </a:pPr>
            <a:r>
              <a:rPr lang="en-US" sz="1200" dirty="0">
                <a:solidFill>
                  <a:srgbClr val="5E6E66"/>
                </a:solidFill>
                <a:latin typeface="Calibri" pitchFamily="34" charset="0"/>
                <a:ea typeface="Calibri" pitchFamily="34" charset="-122"/>
                <a:cs typeface="Calibri" pitchFamily="34" charset="-120"/>
              </a:rPr>
              <a:t>Security agencies may intercept communications without a court order in urgent situations</a:t>
            </a:r>
            <a:endParaRPr lang="en-US" sz="1200" dirty="0"/>
          </a:p>
        </p:txBody>
      </p:sp>
      <p:sp>
        <p:nvSpPr>
          <p:cNvPr id="19" name="Shape 14"/>
          <p:cNvSpPr/>
          <p:nvPr/>
        </p:nvSpPr>
        <p:spPr>
          <a:xfrm>
            <a:off x="502920" y="4764024"/>
            <a:ext cx="11185855" cy="859536"/>
          </a:xfrm>
          <a:prstGeom prst="roundRect">
            <a:avLst>
              <a:gd name="adj" fmla="val 8511"/>
            </a:avLst>
          </a:prstGeom>
          <a:solidFill>
            <a:srgbClr val="FFFFFF"/>
          </a:solidFill>
          <a:ln/>
          <a:effectLst>
            <a:outerShdw sx="100000" sy="100000" kx="0" ky="0" algn="bl" rotWithShape="0" blurRad="63500" dist="25400" dir="5400000">
              <a:srgbClr val="1B2B22">
                <a:alpha val="12000"/>
              </a:srgbClr>
            </a:outerShdw>
          </a:effectLst>
        </p:spPr>
      </p:sp>
      <p:sp>
        <p:nvSpPr>
          <p:cNvPr id="20" name="Shape 15"/>
          <p:cNvSpPr/>
          <p:nvPr/>
        </p:nvSpPr>
        <p:spPr>
          <a:xfrm>
            <a:off x="704088" y="4946904"/>
            <a:ext cx="493776" cy="493776"/>
          </a:xfrm>
          <a:prstGeom prst="ellipse">
            <a:avLst/>
          </a:prstGeom>
          <a:solidFill>
            <a:srgbClr val="146B47"/>
          </a:solidFill>
          <a:ln/>
        </p:spPr>
      </p:sp>
      <p:pic>
        <p:nvPicPr>
          <p:cNvPr id="21" name="Image 3" descr="preencoded.png">    </p:cNvPr>
          <p:cNvPicPr>
            <a:picLocks noChangeAspect="1"/>
          </p:cNvPicPr>
          <p:nvPr/>
        </p:nvPicPr>
        <p:blipFill>
          <a:blip r:embed="rId4"/>
          <a:stretch>
            <a:fillRect/>
          </a:stretch>
        </p:blipFill>
        <p:spPr>
          <a:xfrm>
            <a:off x="822594" y="5065410"/>
            <a:ext cx="256764" cy="256764"/>
          </a:xfrm>
          <a:prstGeom prst="rect">
            <a:avLst/>
          </a:prstGeom>
        </p:spPr>
      </p:pic>
      <p:sp>
        <p:nvSpPr>
          <p:cNvPr id="22" name="Text 16"/>
          <p:cNvSpPr/>
          <p:nvPr/>
        </p:nvSpPr>
        <p:spPr>
          <a:xfrm>
            <a:off x="1463040" y="4837176"/>
            <a:ext cx="3017520" cy="713232"/>
          </a:xfrm>
          <a:prstGeom prst="rect">
            <a:avLst/>
          </a:prstGeom>
          <a:noFill/>
          <a:ln/>
        </p:spPr>
        <p:txBody>
          <a:bodyPr wrap="square" lIns="0" tIns="0" rIns="0" bIns="0" rtlCol="0" anchor="ctr"/>
          <a:lstStyle/>
          <a:p>
            <a:pPr indent="0" marL="0">
              <a:buNone/>
            </a:pPr>
            <a:r>
              <a:rPr lang="en-US" sz="1400" b="1" dirty="0">
                <a:solidFill>
                  <a:srgbClr val="17231C"/>
                </a:solidFill>
                <a:latin typeface="Calibri" pitchFamily="34" charset="0"/>
                <a:ea typeface="Calibri" pitchFamily="34" charset="-122"/>
                <a:cs typeface="Calibri" pitchFamily="34" charset="-120"/>
              </a:rPr>
              <a:t>New offences &amp; levy</a:t>
            </a:r>
            <a:endParaRPr lang="en-US" sz="1400" dirty="0"/>
          </a:p>
        </p:txBody>
      </p:sp>
      <p:sp>
        <p:nvSpPr>
          <p:cNvPr id="23" name="Text 17"/>
          <p:cNvSpPr/>
          <p:nvPr/>
        </p:nvSpPr>
        <p:spPr>
          <a:xfrm>
            <a:off x="4572000" y="4837176"/>
            <a:ext cx="6933895" cy="713232"/>
          </a:xfrm>
          <a:prstGeom prst="rect">
            <a:avLst/>
          </a:prstGeom>
          <a:noFill/>
          <a:ln/>
        </p:spPr>
        <p:txBody>
          <a:bodyPr wrap="square" lIns="0" tIns="0" rIns="0" bIns="0" rtlCol="0" anchor="ctr"/>
          <a:lstStyle/>
          <a:p>
            <a:pPr indent="0" marL="0">
              <a:buNone/>
            </a:pPr>
            <a:r>
              <a:rPr lang="en-US" sz="1200" dirty="0">
                <a:solidFill>
                  <a:srgbClr val="5E6E66"/>
                </a:solidFill>
                <a:latin typeface="Calibri" pitchFamily="34" charset="0"/>
                <a:ea typeface="Calibri" pitchFamily="34" charset="-122"/>
                <a:cs typeface="Calibri" pitchFamily="34" charset="-120"/>
              </a:rPr>
              <a:t>New cyberstalking / disinformation offences, plus a cybersecurity levy that raises compliance costs</a:t>
            </a:r>
            <a:endParaRPr lang="en-US" sz="1200" dirty="0"/>
          </a:p>
        </p:txBody>
      </p:sp>
      <p:sp>
        <p:nvSpPr>
          <p:cNvPr id="24" name="Text 18"/>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11</a:t>
            </a:r>
            <a:endParaRPr lang="en-US" sz="1000" dirty="0"/>
          </a:p>
        </p:txBody>
      </p:sp>
      <p:sp>
        <p:nvSpPr>
          <p:cNvPr id="25" name="Text 19"/>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NATIONAL STRATEGY</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Coordinating a national response</a:t>
            </a:r>
            <a:endParaRPr lang="en-US" sz="3000" dirty="0"/>
          </a:p>
        </p:txBody>
      </p:sp>
      <p:sp>
        <p:nvSpPr>
          <p:cNvPr id="4" name="Shape 2"/>
          <p:cNvSpPr/>
          <p:nvPr/>
        </p:nvSpPr>
        <p:spPr>
          <a:xfrm>
            <a:off x="4160520" y="2377440"/>
            <a:ext cx="1920240" cy="1920240"/>
          </a:xfrm>
          <a:prstGeom prst="ellipse">
            <a:avLst/>
          </a:prstGeom>
          <a:solidFill>
            <a:srgbClr val="0B5E34"/>
          </a:solidFill>
          <a:ln/>
          <a:effectLst>
            <a:outerShdw sx="100000" sy="100000" kx="0" ky="0" algn="bl" rotWithShape="0" blurRad="101600" dist="38100" dir="5400000">
              <a:srgbClr val="1B2B22">
                <a:alpha val="20000"/>
              </a:srgbClr>
            </a:outerShdw>
          </a:effectLst>
        </p:spPr>
      </p:sp>
      <p:sp>
        <p:nvSpPr>
          <p:cNvPr id="5" name="Text 3"/>
          <p:cNvSpPr/>
          <p:nvPr/>
        </p:nvSpPr>
        <p:spPr>
          <a:xfrm>
            <a:off x="4160520" y="2880360"/>
            <a:ext cx="192024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NCCC</a:t>
            </a:r>
            <a:endParaRPr lang="en-US" sz="2200" dirty="0"/>
          </a:p>
        </p:txBody>
      </p:sp>
      <p:sp>
        <p:nvSpPr>
          <p:cNvPr id="6" name="Text 4"/>
          <p:cNvSpPr/>
          <p:nvPr/>
        </p:nvSpPr>
        <p:spPr>
          <a:xfrm>
            <a:off x="4297680" y="3337560"/>
            <a:ext cx="1645920" cy="822960"/>
          </a:xfrm>
          <a:prstGeom prst="rect">
            <a:avLst/>
          </a:prstGeom>
          <a:noFill/>
          <a:ln/>
        </p:spPr>
        <p:txBody>
          <a:bodyPr wrap="square" lIns="0" tIns="0" rIns="0" bIns="0" rtlCol="0" anchor="ctr"/>
          <a:lstStyle/>
          <a:p>
            <a:pPr algn="ctr" indent="0" marL="0">
              <a:lnSpc>
                <a:spcPts val="1200"/>
              </a:lnSpc>
              <a:buNone/>
            </a:pPr>
            <a:r>
              <a:rPr lang="en-US" sz="1050" dirty="0">
                <a:solidFill>
                  <a:srgbClr val="D9EEE2"/>
                </a:solidFill>
                <a:latin typeface="Calibri" pitchFamily="34" charset="0"/>
                <a:ea typeface="Calibri" pitchFamily="34" charset="-122"/>
                <a:cs typeface="Calibri" pitchFamily="34" charset="-120"/>
              </a:rPr>
              <a:t>National Cybersecurity</a:t>
            </a:r>
            <a:endParaRPr lang="en-US" sz="1050" dirty="0"/>
          </a:p>
          <a:p>
            <a:pPr algn="ctr" indent="0" marL="0">
              <a:lnSpc>
                <a:spcPts val="1200"/>
              </a:lnSpc>
              <a:buNone/>
            </a:pPr>
            <a:r>
              <a:rPr lang="en-US" sz="1050" dirty="0">
                <a:solidFill>
                  <a:srgbClr val="D9EEE2"/>
                </a:solidFill>
                <a:latin typeface="Calibri" pitchFamily="34" charset="0"/>
                <a:ea typeface="Calibri" pitchFamily="34" charset="-122"/>
                <a:cs typeface="Calibri" pitchFamily="34" charset="-120"/>
              </a:rPr>
              <a:t>Coordination Centre</a:t>
            </a:r>
            <a:endParaRPr lang="en-US" sz="1050" dirty="0"/>
          </a:p>
        </p:txBody>
      </p:sp>
      <p:sp>
        <p:nvSpPr>
          <p:cNvPr id="7" name="Shape 5"/>
          <p:cNvSpPr/>
          <p:nvPr/>
        </p:nvSpPr>
        <p:spPr>
          <a:xfrm>
            <a:off x="1005840" y="1051560"/>
            <a:ext cx="658368" cy="658368"/>
          </a:xfrm>
          <a:prstGeom prst="ellipse">
            <a:avLst/>
          </a:prstGeom>
          <a:solidFill>
            <a:srgbClr val="146B47"/>
          </a:solidFill>
          <a:ln/>
        </p:spPr>
      </p:sp>
      <p:pic>
        <p:nvPicPr>
          <p:cNvPr id="8" name="Image 0" descr="preencoded.png">    </p:cNvPr>
          <p:cNvPicPr>
            <a:picLocks noChangeAspect="1"/>
          </p:cNvPicPr>
          <p:nvPr/>
        </p:nvPicPr>
        <p:blipFill>
          <a:blip r:embed="rId1"/>
          <a:stretch>
            <a:fillRect/>
          </a:stretch>
        </p:blipFill>
        <p:spPr>
          <a:xfrm>
            <a:off x="1163848" y="1209568"/>
            <a:ext cx="342351" cy="342351"/>
          </a:xfrm>
          <a:prstGeom prst="rect">
            <a:avLst/>
          </a:prstGeom>
        </p:spPr>
      </p:pic>
      <p:sp>
        <p:nvSpPr>
          <p:cNvPr id="9" name="Text 6"/>
          <p:cNvSpPr/>
          <p:nvPr/>
        </p:nvSpPr>
        <p:spPr>
          <a:xfrm>
            <a:off x="502920" y="1764792"/>
            <a:ext cx="1645920" cy="548640"/>
          </a:xfrm>
          <a:prstGeom prst="rect">
            <a:avLst/>
          </a:prstGeom>
          <a:noFill/>
          <a:ln/>
        </p:spPr>
        <p:txBody>
          <a:bodyPr wrap="square" lIns="0" tIns="0" rIns="0" bIns="0" rtlCol="0" anchor="ctr"/>
          <a:lstStyle/>
          <a:p>
            <a:pPr algn="ctr" indent="0" marL="0">
              <a:lnSpc>
                <a:spcPts val="1300"/>
              </a:lnSpc>
              <a:buNone/>
            </a:pPr>
            <a:r>
              <a:rPr lang="en-US" sz="1150" b="1" dirty="0">
                <a:solidFill>
                  <a:srgbClr val="17231C"/>
                </a:solidFill>
                <a:latin typeface="Calibri" pitchFamily="34" charset="0"/>
                <a:ea typeface="Calibri" pitchFamily="34" charset="-122"/>
                <a:cs typeface="Calibri" pitchFamily="34" charset="-120"/>
              </a:rPr>
              <a:t>NITDA</a:t>
            </a:r>
            <a:endParaRPr lang="en-US" sz="1150" dirty="0"/>
          </a:p>
        </p:txBody>
      </p:sp>
      <p:sp>
        <p:nvSpPr>
          <p:cNvPr id="10" name="Shape 7"/>
          <p:cNvSpPr/>
          <p:nvPr/>
        </p:nvSpPr>
        <p:spPr>
          <a:xfrm>
            <a:off x="7178040" y="1051560"/>
            <a:ext cx="658368" cy="658368"/>
          </a:xfrm>
          <a:prstGeom prst="ellipse">
            <a:avLst/>
          </a:prstGeom>
          <a:solidFill>
            <a:srgbClr val="146B47"/>
          </a:solidFill>
          <a:ln/>
        </p:spPr>
      </p:sp>
      <p:pic>
        <p:nvPicPr>
          <p:cNvPr id="11" name="Image 1" descr="preencoded.png">    </p:cNvPr>
          <p:cNvPicPr>
            <a:picLocks noChangeAspect="1"/>
          </p:cNvPicPr>
          <p:nvPr/>
        </p:nvPicPr>
        <p:blipFill>
          <a:blip r:embed="rId2"/>
          <a:stretch>
            <a:fillRect/>
          </a:stretch>
        </p:blipFill>
        <p:spPr>
          <a:xfrm>
            <a:off x="7336048" y="1209568"/>
            <a:ext cx="342351" cy="342351"/>
          </a:xfrm>
          <a:prstGeom prst="rect">
            <a:avLst/>
          </a:prstGeom>
        </p:spPr>
      </p:pic>
      <p:sp>
        <p:nvSpPr>
          <p:cNvPr id="12" name="Text 8"/>
          <p:cNvSpPr/>
          <p:nvPr/>
        </p:nvSpPr>
        <p:spPr>
          <a:xfrm>
            <a:off x="6675120" y="1764792"/>
            <a:ext cx="1645920" cy="548640"/>
          </a:xfrm>
          <a:prstGeom prst="rect">
            <a:avLst/>
          </a:prstGeom>
          <a:noFill/>
          <a:ln/>
        </p:spPr>
        <p:txBody>
          <a:bodyPr wrap="square" lIns="0" tIns="0" rIns="0" bIns="0" rtlCol="0" anchor="ctr"/>
          <a:lstStyle/>
          <a:p>
            <a:pPr algn="ctr" indent="0" marL="0">
              <a:lnSpc>
                <a:spcPts val="1300"/>
              </a:lnSpc>
              <a:buNone/>
            </a:pPr>
            <a:r>
              <a:rPr lang="en-US" sz="1150" b="1" dirty="0">
                <a:solidFill>
                  <a:srgbClr val="17231C"/>
                </a:solidFill>
                <a:latin typeface="Calibri" pitchFamily="34" charset="0"/>
                <a:ea typeface="Calibri" pitchFamily="34" charset="-122"/>
                <a:cs typeface="Calibri" pitchFamily="34" charset="-120"/>
              </a:rPr>
              <a:t>ONSA</a:t>
            </a:r>
            <a:endParaRPr lang="en-US" sz="1150" dirty="0"/>
          </a:p>
        </p:txBody>
      </p:sp>
      <p:sp>
        <p:nvSpPr>
          <p:cNvPr id="13" name="Shape 9"/>
          <p:cNvSpPr/>
          <p:nvPr/>
        </p:nvSpPr>
        <p:spPr>
          <a:xfrm>
            <a:off x="1005840" y="4160520"/>
            <a:ext cx="658368" cy="658368"/>
          </a:xfrm>
          <a:prstGeom prst="ellipse">
            <a:avLst/>
          </a:prstGeom>
          <a:solidFill>
            <a:srgbClr val="146B47"/>
          </a:solidFill>
          <a:ln/>
        </p:spPr>
      </p:sp>
      <p:pic>
        <p:nvPicPr>
          <p:cNvPr id="14" name="Image 2" descr="preencoded.png">    </p:cNvPr>
          <p:cNvPicPr>
            <a:picLocks noChangeAspect="1"/>
          </p:cNvPicPr>
          <p:nvPr/>
        </p:nvPicPr>
        <p:blipFill>
          <a:blip r:embed="rId3"/>
          <a:stretch>
            <a:fillRect/>
          </a:stretch>
        </p:blipFill>
        <p:spPr>
          <a:xfrm>
            <a:off x="1163848" y="4318528"/>
            <a:ext cx="342351" cy="342351"/>
          </a:xfrm>
          <a:prstGeom prst="rect">
            <a:avLst/>
          </a:prstGeom>
        </p:spPr>
      </p:pic>
      <p:sp>
        <p:nvSpPr>
          <p:cNvPr id="15" name="Text 10"/>
          <p:cNvSpPr/>
          <p:nvPr/>
        </p:nvSpPr>
        <p:spPr>
          <a:xfrm>
            <a:off x="502920" y="4873752"/>
            <a:ext cx="1645920" cy="548640"/>
          </a:xfrm>
          <a:prstGeom prst="rect">
            <a:avLst/>
          </a:prstGeom>
          <a:noFill/>
          <a:ln/>
        </p:spPr>
        <p:txBody>
          <a:bodyPr wrap="square" lIns="0" tIns="0" rIns="0" bIns="0" rtlCol="0" anchor="ctr"/>
          <a:lstStyle/>
          <a:p>
            <a:pPr algn="ctr" indent="0" marL="0">
              <a:lnSpc>
                <a:spcPts val="1300"/>
              </a:lnSpc>
              <a:buNone/>
            </a:pPr>
            <a:r>
              <a:rPr lang="en-US" sz="1150" b="1" dirty="0">
                <a:solidFill>
                  <a:srgbClr val="17231C"/>
                </a:solidFill>
                <a:latin typeface="Calibri" pitchFamily="34" charset="0"/>
                <a:ea typeface="Calibri" pitchFamily="34" charset="-122"/>
                <a:cs typeface="Calibri" pitchFamily="34" charset="-120"/>
              </a:rPr>
              <a:t>7 Thematic Areas</a:t>
            </a:r>
            <a:endParaRPr lang="en-US" sz="1150" dirty="0"/>
          </a:p>
          <a:p>
            <a:pPr algn="ctr" indent="0" marL="0">
              <a:lnSpc>
                <a:spcPts val="1300"/>
              </a:lnSpc>
              <a:buNone/>
            </a:pPr>
            <a:r>
              <a:rPr lang="en-US" sz="1150" b="1" dirty="0">
                <a:solidFill>
                  <a:srgbClr val="17231C"/>
                </a:solidFill>
                <a:latin typeface="Calibri" pitchFamily="34" charset="0"/>
                <a:ea typeface="Calibri" pitchFamily="34" charset="-122"/>
                <a:cs typeface="Calibri" pitchFamily="34" charset="-120"/>
              </a:rPr>
              <a:t>(Action Plan)</a:t>
            </a:r>
            <a:endParaRPr lang="en-US" sz="1150" dirty="0"/>
          </a:p>
        </p:txBody>
      </p:sp>
      <p:sp>
        <p:nvSpPr>
          <p:cNvPr id="16" name="Shape 11"/>
          <p:cNvSpPr/>
          <p:nvPr/>
        </p:nvSpPr>
        <p:spPr>
          <a:xfrm>
            <a:off x="7178040" y="4160520"/>
            <a:ext cx="658368" cy="658368"/>
          </a:xfrm>
          <a:prstGeom prst="ellipse">
            <a:avLst/>
          </a:prstGeom>
          <a:solidFill>
            <a:srgbClr val="146B47"/>
          </a:solidFill>
          <a:ln/>
        </p:spPr>
      </p:sp>
      <p:pic>
        <p:nvPicPr>
          <p:cNvPr id="17" name="Image 3" descr="preencoded.png">    </p:cNvPr>
          <p:cNvPicPr>
            <a:picLocks noChangeAspect="1"/>
          </p:cNvPicPr>
          <p:nvPr/>
        </p:nvPicPr>
        <p:blipFill>
          <a:blip r:embed="rId4"/>
          <a:stretch>
            <a:fillRect/>
          </a:stretch>
        </p:blipFill>
        <p:spPr>
          <a:xfrm>
            <a:off x="7336048" y="4318528"/>
            <a:ext cx="342351" cy="342351"/>
          </a:xfrm>
          <a:prstGeom prst="rect">
            <a:avLst/>
          </a:prstGeom>
        </p:spPr>
      </p:pic>
      <p:sp>
        <p:nvSpPr>
          <p:cNvPr id="18" name="Text 12"/>
          <p:cNvSpPr/>
          <p:nvPr/>
        </p:nvSpPr>
        <p:spPr>
          <a:xfrm>
            <a:off x="6675120" y="4873752"/>
            <a:ext cx="1645920" cy="548640"/>
          </a:xfrm>
          <a:prstGeom prst="rect">
            <a:avLst/>
          </a:prstGeom>
          <a:noFill/>
          <a:ln/>
        </p:spPr>
        <p:txBody>
          <a:bodyPr wrap="square" lIns="0" tIns="0" rIns="0" bIns="0" rtlCol="0" anchor="ctr"/>
          <a:lstStyle/>
          <a:p>
            <a:pPr algn="ctr" indent="0" marL="0">
              <a:lnSpc>
                <a:spcPts val="1300"/>
              </a:lnSpc>
              <a:buNone/>
            </a:pPr>
            <a:r>
              <a:rPr lang="en-US" sz="1150" b="1" dirty="0">
                <a:solidFill>
                  <a:srgbClr val="17231C"/>
                </a:solidFill>
                <a:latin typeface="Calibri" pitchFamily="34" charset="0"/>
                <a:ea typeface="Calibri" pitchFamily="34" charset="-122"/>
                <a:cs typeface="Calibri" pitchFamily="34" charset="-120"/>
              </a:rPr>
              <a:t>Multi-agency</a:t>
            </a:r>
            <a:endParaRPr lang="en-US" sz="1150" dirty="0"/>
          </a:p>
          <a:p>
            <a:pPr algn="ctr" indent="0" marL="0">
              <a:lnSpc>
                <a:spcPts val="1300"/>
              </a:lnSpc>
              <a:buNone/>
            </a:pPr>
            <a:r>
              <a:rPr lang="en-US" sz="1150" b="1" dirty="0">
                <a:solidFill>
                  <a:srgbClr val="17231C"/>
                </a:solidFill>
                <a:latin typeface="Calibri" pitchFamily="34" charset="0"/>
                <a:ea typeface="Calibri" pitchFamily="34" charset="-122"/>
                <a:cs typeface="Calibri" pitchFamily="34" charset="-120"/>
              </a:rPr>
              <a:t>response</a:t>
            </a:r>
            <a:endParaRPr lang="en-US" sz="1150" dirty="0"/>
          </a:p>
        </p:txBody>
      </p:sp>
      <p:sp>
        <p:nvSpPr>
          <p:cNvPr id="19" name="Text 13"/>
          <p:cNvSpPr/>
          <p:nvPr/>
        </p:nvSpPr>
        <p:spPr>
          <a:xfrm>
            <a:off x="502920" y="5806440"/>
            <a:ext cx="11185855" cy="822960"/>
          </a:xfrm>
          <a:prstGeom prst="rect">
            <a:avLst/>
          </a:prstGeom>
          <a:noFill/>
          <a:ln/>
        </p:spPr>
        <p:txBody>
          <a:bodyPr wrap="square" lIns="0" tIns="0" rIns="0" bIns="0" rtlCol="0" anchor="t"/>
          <a:lstStyle/>
          <a:p>
            <a:pPr indent="0" marL="0">
              <a:buNone/>
            </a:pPr>
            <a:r>
              <a:rPr lang="en-US" sz="1300" b="1" dirty="0">
                <a:solidFill>
                  <a:srgbClr val="0B5E34"/>
                </a:solidFill>
                <a:latin typeface="Calibri" pitchFamily="34" charset="0"/>
                <a:ea typeface="Calibri" pitchFamily="34" charset="-122"/>
                <a:cs typeface="Calibri" pitchFamily="34" charset="-120"/>
              </a:rPr>
              <a:t>No single agency can secure Nigeria’s cyberspace alone. </a:t>
            </a:r>
            <a:pPr indent="0" marL="0">
              <a:buNone/>
            </a:pPr>
            <a:r>
              <a:rPr lang="en-US" sz="1300" dirty="0">
                <a:solidFill>
                  <a:srgbClr val="17231C"/>
                </a:solidFill>
                <a:latin typeface="Calibri" pitchFamily="34" charset="0"/>
                <a:ea typeface="Calibri" pitchFamily="34" charset="-122"/>
                <a:cs typeface="Calibri" pitchFamily="34" charset="-120"/>
              </a:rPr>
              <a:t>The NCCC was unveiled at the 2025 National Cybersecurity Conference to drive coordinated, multi-agency response — alongside a push to end the culture of silence around disclosing cyberattacks.</a:t>
            </a:r>
            <a:endParaRPr lang="en-US" sz="1300" dirty="0"/>
          </a:p>
        </p:txBody>
      </p:sp>
      <p:sp>
        <p:nvSpPr>
          <p:cNvPr id="20" name="Text 14"/>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12</a:t>
            </a:r>
            <a:endParaRPr lang="en-US" sz="1000" dirty="0"/>
          </a:p>
        </p:txBody>
      </p:sp>
      <p:sp>
        <p:nvSpPr>
          <p:cNvPr id="21" name="Text 15"/>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0B5E34"/>
                </a:solidFill>
                <a:latin typeface="Calibri" pitchFamily="34" charset="0"/>
                <a:ea typeface="Calibri" pitchFamily="34" charset="-122"/>
                <a:cs typeface="Calibri" pitchFamily="34" charset="-120"/>
              </a:rPr>
              <a:t>THE BINDING CONSTRAINT</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17231C"/>
                </a:solidFill>
                <a:latin typeface="Cambria" pitchFamily="34" charset="0"/>
                <a:ea typeface="Cambria" pitchFamily="34" charset="-122"/>
                <a:cs typeface="Cambria" pitchFamily="34" charset="-120"/>
              </a:rPr>
              <a:t>The talent gap</a:t>
            </a:r>
            <a:endParaRPr lang="en-US" sz="3000" dirty="0"/>
          </a:p>
        </p:txBody>
      </p:sp>
      <p:graphicFrame>
        <p:nvGraphicFramePr>
          <p:cNvPr id="4" name="Chart 0" descr=""/>
          <p:cNvGraphicFramePr/>
          <p:nvPr/>
        </p:nvGraphicFramePr>
        <p:xfrm>
          <a:off x="502920" y="1691640"/>
          <a:ext cx="576072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903720" y="1737360"/>
            <a:ext cx="4754880" cy="365760"/>
          </a:xfrm>
          <a:prstGeom prst="rect">
            <a:avLst/>
          </a:prstGeom>
          <a:noFill/>
          <a:ln/>
        </p:spPr>
        <p:txBody>
          <a:bodyPr wrap="square" lIns="0" tIns="0" rIns="0" bIns="0" rtlCol="0" anchor="ctr"/>
          <a:lstStyle/>
          <a:p>
            <a:pPr indent="0" marL="0">
              <a:buNone/>
            </a:pPr>
            <a:r>
              <a:rPr lang="en-US" sz="1800" b="1" dirty="0">
                <a:solidFill>
                  <a:srgbClr val="0B5E34"/>
                </a:solidFill>
                <a:latin typeface="Cambria" pitchFamily="34" charset="0"/>
                <a:ea typeface="Cambria" pitchFamily="34" charset="-122"/>
                <a:cs typeface="Cambria" pitchFamily="34" charset="-120"/>
              </a:rPr>
              <a:t>90.6%</a:t>
            </a:r>
            <a:endParaRPr lang="en-US" sz="1800" dirty="0"/>
          </a:p>
        </p:txBody>
      </p:sp>
      <p:sp>
        <p:nvSpPr>
          <p:cNvPr id="6" name="Text 3"/>
          <p:cNvSpPr/>
          <p:nvPr/>
        </p:nvSpPr>
        <p:spPr>
          <a:xfrm>
            <a:off x="6903720" y="2103120"/>
            <a:ext cx="4754880" cy="5029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workforce shortfall, per NITDA</a:t>
            </a:r>
            <a:endParaRPr lang="en-US" sz="1150" dirty="0"/>
          </a:p>
        </p:txBody>
      </p:sp>
      <p:sp>
        <p:nvSpPr>
          <p:cNvPr id="7" name="Text 4"/>
          <p:cNvSpPr/>
          <p:nvPr/>
        </p:nvSpPr>
        <p:spPr>
          <a:xfrm>
            <a:off x="6903720" y="2779776"/>
            <a:ext cx="4754880" cy="365760"/>
          </a:xfrm>
          <a:prstGeom prst="rect">
            <a:avLst/>
          </a:prstGeom>
          <a:noFill/>
          <a:ln/>
        </p:spPr>
        <p:txBody>
          <a:bodyPr wrap="square" lIns="0" tIns="0" rIns="0" bIns="0" rtlCol="0" anchor="ctr"/>
          <a:lstStyle/>
          <a:p>
            <a:pPr indent="0" marL="0">
              <a:buNone/>
            </a:pPr>
            <a:r>
              <a:rPr lang="en-US" sz="1800" b="1" dirty="0">
                <a:solidFill>
                  <a:srgbClr val="0B5E34"/>
                </a:solidFill>
                <a:latin typeface="Cambria" pitchFamily="34" charset="0"/>
                <a:ea typeface="Cambria" pitchFamily="34" charset="-122"/>
                <a:cs typeface="Cambria" pitchFamily="34" charset="-120"/>
              </a:rPr>
              <a:t>1 : 8,000</a:t>
            </a:r>
            <a:endParaRPr lang="en-US" sz="1800" dirty="0"/>
          </a:p>
        </p:txBody>
      </p:sp>
      <p:sp>
        <p:nvSpPr>
          <p:cNvPr id="8" name="Text 5"/>
          <p:cNvSpPr/>
          <p:nvPr/>
        </p:nvSpPr>
        <p:spPr>
          <a:xfrm>
            <a:off x="6903720" y="3145536"/>
            <a:ext cx="4754880" cy="5029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current expert-to-citizen ratio (benchmark is 1 : 800)</a:t>
            </a:r>
            <a:endParaRPr lang="en-US" sz="1150" dirty="0"/>
          </a:p>
        </p:txBody>
      </p:sp>
      <p:sp>
        <p:nvSpPr>
          <p:cNvPr id="9" name="Text 6"/>
          <p:cNvSpPr/>
          <p:nvPr/>
        </p:nvSpPr>
        <p:spPr>
          <a:xfrm>
            <a:off x="6903720" y="3822192"/>
            <a:ext cx="4754880" cy="365760"/>
          </a:xfrm>
          <a:prstGeom prst="rect">
            <a:avLst/>
          </a:prstGeom>
          <a:noFill/>
          <a:ln/>
        </p:spPr>
        <p:txBody>
          <a:bodyPr wrap="square" lIns="0" tIns="0" rIns="0" bIns="0" rtlCol="0" anchor="ctr"/>
          <a:lstStyle/>
          <a:p>
            <a:pPr indent="0" marL="0">
              <a:buNone/>
            </a:pPr>
            <a:r>
              <a:rPr lang="en-US" sz="1800" b="1" dirty="0">
                <a:solidFill>
                  <a:srgbClr val="0B5E34"/>
                </a:solidFill>
                <a:latin typeface="Cambria" pitchFamily="34" charset="0"/>
                <a:ea typeface="Cambria" pitchFamily="34" charset="-122"/>
                <a:cs typeface="Cambria" pitchFamily="34" charset="-120"/>
              </a:rPr>
              <a:t>3M by 2027</a:t>
            </a:r>
            <a:endParaRPr lang="en-US" sz="1800" dirty="0"/>
          </a:p>
        </p:txBody>
      </p:sp>
      <p:sp>
        <p:nvSpPr>
          <p:cNvPr id="10" name="Text 7"/>
          <p:cNvSpPr/>
          <p:nvPr/>
        </p:nvSpPr>
        <p:spPr>
          <a:xfrm>
            <a:off x="6903720" y="4187952"/>
            <a:ext cx="4754880" cy="5029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government’s 3MTT programme target for trained digital professionals</a:t>
            </a:r>
            <a:endParaRPr lang="en-US" sz="1150" dirty="0"/>
          </a:p>
        </p:txBody>
      </p:sp>
      <p:sp>
        <p:nvSpPr>
          <p:cNvPr id="11" name="Text 8"/>
          <p:cNvSpPr/>
          <p:nvPr/>
        </p:nvSpPr>
        <p:spPr>
          <a:xfrm>
            <a:off x="6903720" y="4864608"/>
            <a:ext cx="4754880" cy="365760"/>
          </a:xfrm>
          <a:prstGeom prst="rect">
            <a:avLst/>
          </a:prstGeom>
          <a:noFill/>
          <a:ln/>
        </p:spPr>
        <p:txBody>
          <a:bodyPr wrap="square" lIns="0" tIns="0" rIns="0" bIns="0" rtlCol="0" anchor="ctr"/>
          <a:lstStyle/>
          <a:p>
            <a:pPr indent="0" marL="0">
              <a:buNone/>
            </a:pPr>
            <a:r>
              <a:rPr lang="en-US" sz="1800" b="1" dirty="0">
                <a:solidFill>
                  <a:srgbClr val="0B5E34"/>
                </a:solidFill>
                <a:latin typeface="Cambria" pitchFamily="34" charset="0"/>
                <a:ea typeface="Cambria" pitchFamily="34" charset="-122"/>
                <a:cs typeface="Cambria" pitchFamily="34" charset="-120"/>
              </a:rPr>
              <a:t>$254M → $415M</a:t>
            </a:r>
            <a:endParaRPr lang="en-US" sz="1800" dirty="0"/>
          </a:p>
        </p:txBody>
      </p:sp>
      <p:sp>
        <p:nvSpPr>
          <p:cNvPr id="12" name="Text 9"/>
          <p:cNvSpPr/>
          <p:nvPr/>
        </p:nvSpPr>
        <p:spPr>
          <a:xfrm>
            <a:off x="6903720" y="5230368"/>
            <a:ext cx="4754880" cy="5029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Nigeria’s cybersecurity market, 2026–2031 (~10.3% CAGR)</a:t>
            </a:r>
            <a:endParaRPr lang="en-US" sz="1150" dirty="0"/>
          </a:p>
        </p:txBody>
      </p:sp>
      <p:sp>
        <p:nvSpPr>
          <p:cNvPr id="13" name="Text 10"/>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5E6E66"/>
                </a:solidFill>
                <a:latin typeface="Calibri" pitchFamily="34" charset="0"/>
                <a:ea typeface="Calibri" pitchFamily="34" charset="-122"/>
                <a:cs typeface="Calibri" pitchFamily="34" charset="-120"/>
              </a:rPr>
              <a:t>13</a:t>
            </a:r>
            <a:endParaRPr lang="en-US" sz="1000" dirty="0"/>
          </a:p>
        </p:txBody>
      </p:sp>
      <p:sp>
        <p:nvSpPr>
          <p:cNvPr id="14" name="Text 11"/>
          <p:cNvSpPr/>
          <p:nvPr/>
        </p:nvSpPr>
        <p:spPr>
          <a:xfrm>
            <a:off x="502920" y="6473952"/>
            <a:ext cx="8412480" cy="274320"/>
          </a:xfrm>
          <a:prstGeom prst="rect">
            <a:avLst/>
          </a:prstGeom>
          <a:noFill/>
          <a:ln/>
        </p:spPr>
        <p:txBody>
          <a:bodyPr wrap="square" lIns="0" tIns="0" rIns="0" bIns="0" rtlCol="0" anchor="ctr"/>
          <a:lstStyle/>
          <a:p>
            <a:pPr indent="0" marL="0">
              <a:buNone/>
            </a:pPr>
            <a:r>
              <a:rPr lang="en-US" sz="800" i="1" dirty="0">
                <a:solidFill>
                  <a:srgbClr val="9AA7A0"/>
                </a:solidFill>
                <a:latin typeface="Calibri" pitchFamily="34" charset="0"/>
                <a:ea typeface="Calibri" pitchFamily="34" charset="-122"/>
                <a:cs typeface="Calibri" pitchFamily="34" charset="-120"/>
              </a:rPr>
              <a:t>Sources: Businessday NG, Vanguard, TechCabal, CBN, NDPC, NITDA/ONSA, UNODC, SC Media, ISC2/CompTIA (2025-2026 reporting)</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3821"/>
        </a:solidFill>
      </p:bgPr>
    </p:bg>
    <p:spTree>
      <p:nvGrpSpPr>
        <p:cNvPr id="1" name=""/>
        <p:cNvGrpSpPr/>
        <p:nvPr/>
      </p:nvGrpSpPr>
      <p:grpSpPr>
        <a:xfrm>
          <a:off x="0" y="0"/>
          <a:ext cx="0" cy="0"/>
          <a:chOff x="0" y="0"/>
          <a:chExt cx="0" cy="0"/>
        </a:xfrm>
      </p:grpSpPr>
      <p:sp>
        <p:nvSpPr>
          <p:cNvPr id="2" name="Text 0"/>
          <p:cNvSpPr/>
          <p:nvPr/>
        </p:nvSpPr>
        <p:spPr>
          <a:xfrm>
            <a:off x="502920" y="384048"/>
            <a:ext cx="11185855" cy="292608"/>
          </a:xfrm>
          <a:prstGeom prst="rect">
            <a:avLst/>
          </a:prstGeom>
          <a:noFill/>
          <a:ln/>
        </p:spPr>
        <p:txBody>
          <a:bodyPr wrap="square" lIns="0" tIns="0" rIns="0" bIns="0" rtlCol="0" anchor="ctr"/>
          <a:lstStyle/>
          <a:p>
            <a:pPr indent="0" marL="0">
              <a:buNone/>
            </a:pPr>
            <a:r>
              <a:rPr lang="en-US" sz="1250" b="1" spc="200" kern="0" dirty="0">
                <a:solidFill>
                  <a:srgbClr val="E8A93A"/>
                </a:solidFill>
                <a:latin typeface="Calibri" pitchFamily="34" charset="0"/>
                <a:ea typeface="Calibri" pitchFamily="34" charset="-122"/>
                <a:cs typeface="Calibri" pitchFamily="34" charset="-120"/>
              </a:rPr>
              <a:t>SYNTHESIS</a:t>
            </a:r>
            <a:endParaRPr lang="en-US" sz="1250" dirty="0"/>
          </a:p>
        </p:txBody>
      </p:sp>
      <p:sp>
        <p:nvSpPr>
          <p:cNvPr id="3" name="Text 1"/>
          <p:cNvSpPr/>
          <p:nvPr/>
        </p:nvSpPr>
        <p:spPr>
          <a:xfrm>
            <a:off x="502920" y="658368"/>
            <a:ext cx="11185855"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Key takeaways</a:t>
            </a:r>
            <a:endParaRPr lang="en-US" sz="3000" dirty="0"/>
          </a:p>
        </p:txBody>
      </p:sp>
      <p:sp>
        <p:nvSpPr>
          <p:cNvPr id="4" name="Shape 2"/>
          <p:cNvSpPr/>
          <p:nvPr/>
        </p:nvSpPr>
        <p:spPr>
          <a:xfrm>
            <a:off x="502920" y="1764792"/>
            <a:ext cx="457200" cy="457200"/>
          </a:xfrm>
          <a:prstGeom prst="ellipse">
            <a:avLst/>
          </a:prstGeom>
          <a:solidFill>
            <a:srgbClr val="E8A93A"/>
          </a:solidFill>
          <a:ln/>
        </p:spPr>
      </p:sp>
      <p:sp>
        <p:nvSpPr>
          <p:cNvPr id="5" name="Text 3"/>
          <p:cNvSpPr/>
          <p:nvPr/>
        </p:nvSpPr>
        <p:spPr>
          <a:xfrm>
            <a:off x="502920" y="1764792"/>
            <a:ext cx="457200" cy="457200"/>
          </a:xfrm>
          <a:prstGeom prst="rect">
            <a:avLst/>
          </a:prstGeom>
          <a:noFill/>
          <a:ln/>
        </p:spPr>
        <p:txBody>
          <a:bodyPr wrap="square" lIns="0" tIns="0" rIns="0" bIns="0" rtlCol="0" anchor="ctr"/>
          <a:lstStyle/>
          <a:p>
            <a:pPr algn="ctr" indent="0" marL="0">
              <a:buNone/>
            </a:pPr>
            <a:r>
              <a:rPr lang="en-US" sz="1800" b="1" dirty="0">
                <a:solidFill>
                  <a:srgbClr val="073821"/>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88720" y="1737360"/>
            <a:ext cx="10500055" cy="749808"/>
          </a:xfrm>
          <a:prstGeom prst="rect">
            <a:avLst/>
          </a:prstGeom>
          <a:noFill/>
          <a:ln/>
        </p:spPr>
        <p:txBody>
          <a:bodyPr wrap="square" lIns="0" tIns="0" rIns="0" bIns="0" rtlCol="0" anchor="ctr"/>
          <a:lstStyle/>
          <a:p>
            <a:pPr indent="0" marL="0">
              <a:buNone/>
            </a:pPr>
            <a:r>
              <a:rPr lang="en-US" sz="1500" dirty="0">
                <a:solidFill>
                  <a:srgbClr val="F0F6F2"/>
                </a:solidFill>
                <a:latin typeface="Calibri" pitchFamily="34" charset="0"/>
                <a:ea typeface="Calibri" pitchFamily="34" charset="-122"/>
                <a:cs typeface="Calibri" pitchFamily="34" charset="-120"/>
              </a:rPr>
              <a:t>Attacks are more frequent, more automated (AI-assisted), and increasingly identity-focused.</a:t>
            </a:r>
            <a:endParaRPr lang="en-US" sz="1500" dirty="0"/>
          </a:p>
        </p:txBody>
      </p:sp>
      <p:sp>
        <p:nvSpPr>
          <p:cNvPr id="7" name="Shape 5"/>
          <p:cNvSpPr/>
          <p:nvPr/>
        </p:nvSpPr>
        <p:spPr>
          <a:xfrm>
            <a:off x="502920" y="2606040"/>
            <a:ext cx="457200" cy="457200"/>
          </a:xfrm>
          <a:prstGeom prst="ellipse">
            <a:avLst/>
          </a:prstGeom>
          <a:solidFill>
            <a:srgbClr val="E8A93A"/>
          </a:solidFill>
          <a:ln/>
        </p:spPr>
      </p:sp>
      <p:sp>
        <p:nvSpPr>
          <p:cNvPr id="8" name="Text 6"/>
          <p:cNvSpPr/>
          <p:nvPr/>
        </p:nvSpPr>
        <p:spPr>
          <a:xfrm>
            <a:off x="502920" y="2606040"/>
            <a:ext cx="457200" cy="457200"/>
          </a:xfrm>
          <a:prstGeom prst="rect">
            <a:avLst/>
          </a:prstGeom>
          <a:noFill/>
          <a:ln/>
        </p:spPr>
        <p:txBody>
          <a:bodyPr wrap="square" lIns="0" tIns="0" rIns="0" bIns="0" rtlCol="0" anchor="ctr"/>
          <a:lstStyle/>
          <a:p>
            <a:pPr algn="ctr" indent="0" marL="0">
              <a:buNone/>
            </a:pPr>
            <a:r>
              <a:rPr lang="en-US" sz="1800" b="1" dirty="0">
                <a:solidFill>
                  <a:srgbClr val="073821"/>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188720" y="2578608"/>
            <a:ext cx="10500055" cy="749808"/>
          </a:xfrm>
          <a:prstGeom prst="rect">
            <a:avLst/>
          </a:prstGeom>
          <a:noFill/>
          <a:ln/>
        </p:spPr>
        <p:txBody>
          <a:bodyPr wrap="square" lIns="0" tIns="0" rIns="0" bIns="0" rtlCol="0" anchor="ctr"/>
          <a:lstStyle/>
          <a:p>
            <a:pPr indent="0" marL="0">
              <a:buNone/>
            </a:pPr>
            <a:r>
              <a:rPr lang="en-US" sz="1500" dirty="0">
                <a:solidFill>
                  <a:srgbClr val="F0F6F2"/>
                </a:solidFill>
                <a:latin typeface="Calibri" pitchFamily="34" charset="0"/>
                <a:ea typeface="Calibri" pitchFamily="34" charset="-122"/>
                <a:cs typeface="Calibri" pitchFamily="34" charset="-120"/>
              </a:rPr>
              <a:t>Regulation now has real teeth — NDPC fines and 72-hour reporting mean compliance is no longer optional.</a:t>
            </a:r>
            <a:endParaRPr lang="en-US" sz="1500" dirty="0"/>
          </a:p>
        </p:txBody>
      </p:sp>
      <p:sp>
        <p:nvSpPr>
          <p:cNvPr id="10" name="Shape 8"/>
          <p:cNvSpPr/>
          <p:nvPr/>
        </p:nvSpPr>
        <p:spPr>
          <a:xfrm>
            <a:off x="502920" y="3447288"/>
            <a:ext cx="457200" cy="457200"/>
          </a:xfrm>
          <a:prstGeom prst="ellipse">
            <a:avLst/>
          </a:prstGeom>
          <a:solidFill>
            <a:srgbClr val="E8A93A"/>
          </a:solidFill>
          <a:ln/>
        </p:spPr>
      </p:sp>
      <p:sp>
        <p:nvSpPr>
          <p:cNvPr id="11" name="Text 9"/>
          <p:cNvSpPr/>
          <p:nvPr/>
        </p:nvSpPr>
        <p:spPr>
          <a:xfrm>
            <a:off x="502920" y="3447288"/>
            <a:ext cx="457200" cy="457200"/>
          </a:xfrm>
          <a:prstGeom prst="rect">
            <a:avLst/>
          </a:prstGeom>
          <a:noFill/>
          <a:ln/>
        </p:spPr>
        <p:txBody>
          <a:bodyPr wrap="square" lIns="0" tIns="0" rIns="0" bIns="0" rtlCol="0" anchor="ctr"/>
          <a:lstStyle/>
          <a:p>
            <a:pPr algn="ctr" indent="0" marL="0">
              <a:buNone/>
            </a:pPr>
            <a:r>
              <a:rPr lang="en-US" sz="1800" b="1" dirty="0">
                <a:solidFill>
                  <a:srgbClr val="073821"/>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188720" y="3419856"/>
            <a:ext cx="10500055" cy="749808"/>
          </a:xfrm>
          <a:prstGeom prst="rect">
            <a:avLst/>
          </a:prstGeom>
          <a:noFill/>
          <a:ln/>
        </p:spPr>
        <p:txBody>
          <a:bodyPr wrap="square" lIns="0" tIns="0" rIns="0" bIns="0" rtlCol="0" anchor="ctr"/>
          <a:lstStyle/>
          <a:p>
            <a:pPr indent="0" marL="0">
              <a:buNone/>
            </a:pPr>
            <a:r>
              <a:rPr lang="en-US" sz="1500" dirty="0">
                <a:solidFill>
                  <a:srgbClr val="F0F6F2"/>
                </a:solidFill>
                <a:latin typeface="Calibri" pitchFamily="34" charset="0"/>
                <a:ea typeface="Calibri" pitchFamily="34" charset="-122"/>
                <a:cs typeface="Calibri" pitchFamily="34" charset="-120"/>
              </a:rPr>
              <a:t>Critical infrastructure is a top target — a single vulnerability (like the CAC breach) can cascade nationally.</a:t>
            </a:r>
            <a:endParaRPr lang="en-US" sz="1500" dirty="0"/>
          </a:p>
        </p:txBody>
      </p:sp>
      <p:sp>
        <p:nvSpPr>
          <p:cNvPr id="13" name="Shape 11"/>
          <p:cNvSpPr/>
          <p:nvPr/>
        </p:nvSpPr>
        <p:spPr>
          <a:xfrm>
            <a:off x="502920" y="4288536"/>
            <a:ext cx="457200" cy="457200"/>
          </a:xfrm>
          <a:prstGeom prst="ellipse">
            <a:avLst/>
          </a:prstGeom>
          <a:solidFill>
            <a:srgbClr val="E8A93A"/>
          </a:solidFill>
          <a:ln/>
        </p:spPr>
      </p:sp>
      <p:sp>
        <p:nvSpPr>
          <p:cNvPr id="14" name="Text 12"/>
          <p:cNvSpPr/>
          <p:nvPr/>
        </p:nvSpPr>
        <p:spPr>
          <a:xfrm>
            <a:off x="502920" y="4288536"/>
            <a:ext cx="457200" cy="457200"/>
          </a:xfrm>
          <a:prstGeom prst="rect">
            <a:avLst/>
          </a:prstGeom>
          <a:noFill/>
          <a:ln/>
        </p:spPr>
        <p:txBody>
          <a:bodyPr wrap="square" lIns="0" tIns="0" rIns="0" bIns="0" rtlCol="0" anchor="ctr"/>
          <a:lstStyle/>
          <a:p>
            <a:pPr algn="ctr" indent="0" marL="0">
              <a:buNone/>
            </a:pPr>
            <a:r>
              <a:rPr lang="en-US" sz="1800" b="1" dirty="0">
                <a:solidFill>
                  <a:srgbClr val="073821"/>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188720" y="4261104"/>
            <a:ext cx="10500055" cy="749808"/>
          </a:xfrm>
          <a:prstGeom prst="rect">
            <a:avLst/>
          </a:prstGeom>
          <a:noFill/>
          <a:ln/>
        </p:spPr>
        <p:txBody>
          <a:bodyPr wrap="square" lIns="0" tIns="0" rIns="0" bIns="0" rtlCol="0" anchor="ctr"/>
          <a:lstStyle/>
          <a:p>
            <a:pPr indent="0" marL="0">
              <a:buNone/>
            </a:pPr>
            <a:r>
              <a:rPr lang="en-US" sz="1500" dirty="0">
                <a:solidFill>
                  <a:srgbClr val="F0F6F2"/>
                </a:solidFill>
                <a:latin typeface="Calibri" pitchFamily="34" charset="0"/>
                <a:ea typeface="Calibri" pitchFamily="34" charset="-122"/>
                <a:cs typeface="Calibri" pitchFamily="34" charset="-120"/>
              </a:rPr>
              <a:t>The talent shortage is the binding constraint — tooling and law can’t outrun a lack of skilled defenders.</a:t>
            </a:r>
            <a:endParaRPr lang="en-US" sz="1500" dirty="0"/>
          </a:p>
        </p:txBody>
      </p:sp>
      <p:sp>
        <p:nvSpPr>
          <p:cNvPr id="16" name="Shape 14"/>
          <p:cNvSpPr/>
          <p:nvPr/>
        </p:nvSpPr>
        <p:spPr>
          <a:xfrm>
            <a:off x="502920" y="5129784"/>
            <a:ext cx="457200" cy="457200"/>
          </a:xfrm>
          <a:prstGeom prst="ellipse">
            <a:avLst/>
          </a:prstGeom>
          <a:solidFill>
            <a:srgbClr val="E8A93A"/>
          </a:solidFill>
          <a:ln/>
        </p:spPr>
      </p:sp>
      <p:sp>
        <p:nvSpPr>
          <p:cNvPr id="17" name="Text 15"/>
          <p:cNvSpPr/>
          <p:nvPr/>
        </p:nvSpPr>
        <p:spPr>
          <a:xfrm>
            <a:off x="502920" y="5129784"/>
            <a:ext cx="457200" cy="457200"/>
          </a:xfrm>
          <a:prstGeom prst="rect">
            <a:avLst/>
          </a:prstGeom>
          <a:noFill/>
          <a:ln/>
        </p:spPr>
        <p:txBody>
          <a:bodyPr wrap="square" lIns="0" tIns="0" rIns="0" bIns="0" rtlCol="0" anchor="ctr"/>
          <a:lstStyle/>
          <a:p>
            <a:pPr algn="ctr" indent="0" marL="0">
              <a:buNone/>
            </a:pPr>
            <a:r>
              <a:rPr lang="en-US" sz="1800" b="1" dirty="0">
                <a:solidFill>
                  <a:srgbClr val="073821"/>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188720" y="5102352"/>
            <a:ext cx="10500055" cy="749808"/>
          </a:xfrm>
          <a:prstGeom prst="rect">
            <a:avLst/>
          </a:prstGeom>
          <a:noFill/>
          <a:ln/>
        </p:spPr>
        <p:txBody>
          <a:bodyPr wrap="square" lIns="0" tIns="0" rIns="0" bIns="0" rtlCol="0" anchor="ctr"/>
          <a:lstStyle/>
          <a:p>
            <a:pPr indent="0" marL="0">
              <a:buNone/>
            </a:pPr>
            <a:r>
              <a:rPr lang="en-US" sz="1500" dirty="0">
                <a:solidFill>
                  <a:srgbClr val="F0F6F2"/>
                </a:solidFill>
                <a:latin typeface="Calibri" pitchFamily="34" charset="0"/>
                <a:ea typeface="Calibri" pitchFamily="34" charset="-122"/>
                <a:cs typeface="Calibri" pitchFamily="34" charset="-120"/>
              </a:rPr>
              <a:t>Zero-trust, identity-first defense, and cross-sector information sharing are the direction of travel.</a:t>
            </a:r>
            <a:endParaRPr lang="en-US" sz="1500" dirty="0"/>
          </a:p>
        </p:txBody>
      </p:sp>
      <p:sp>
        <p:nvSpPr>
          <p:cNvPr id="19" name="Text 17"/>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BFD8C9"/>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3821"/>
        </a:solidFill>
      </p:bgPr>
    </p:bg>
    <p:spTree>
      <p:nvGrpSpPr>
        <p:cNvPr id="1" name=""/>
        <p:cNvGrpSpPr/>
        <p:nvPr/>
      </p:nvGrpSpPr>
      <p:grpSpPr>
        <a:xfrm>
          <a:off x="0" y="0"/>
          <a:ext cx="0" cy="0"/>
          <a:chOff x="0" y="0"/>
          <a:chExt cx="0" cy="0"/>
        </a:xfrm>
      </p:grpSpPr>
      <p:sp>
        <p:nvSpPr>
          <p:cNvPr id="2" name="Shape 0"/>
          <p:cNvSpPr/>
          <p:nvPr/>
        </p:nvSpPr>
        <p:spPr>
          <a:xfrm>
            <a:off x="-2286000" y="-2560320"/>
            <a:ext cx="5943600" cy="5943600"/>
          </a:xfrm>
          <a:prstGeom prst="ellipse">
            <a:avLst/>
          </a:prstGeom>
          <a:solidFill>
            <a:srgbClr val="0B5E34"/>
          </a:solidFill>
          <a:ln/>
        </p:spPr>
      </p:sp>
      <p:sp>
        <p:nvSpPr>
          <p:cNvPr id="3" name="Shape 1"/>
          <p:cNvSpPr/>
          <p:nvPr/>
        </p:nvSpPr>
        <p:spPr>
          <a:xfrm>
            <a:off x="9601200" y="3840480"/>
            <a:ext cx="5029200" cy="5029200"/>
          </a:xfrm>
          <a:prstGeom prst="ellipse">
            <a:avLst/>
          </a:prstGeom>
          <a:solidFill>
            <a:srgbClr val="146B47"/>
          </a:solidFill>
          <a:ln/>
        </p:spPr>
      </p:sp>
      <p:sp>
        <p:nvSpPr>
          <p:cNvPr id="4" name="Shape 2"/>
          <p:cNvSpPr/>
          <p:nvPr/>
        </p:nvSpPr>
        <p:spPr>
          <a:xfrm>
            <a:off x="5730088" y="685800"/>
            <a:ext cx="731520" cy="731520"/>
          </a:xfrm>
          <a:prstGeom prst="ellipse">
            <a:avLst/>
          </a:prstGeom>
          <a:solidFill>
            <a:srgbClr val="E8A93A"/>
          </a:solidFill>
          <a:ln/>
        </p:spPr>
      </p:sp>
      <p:pic>
        <p:nvPicPr>
          <p:cNvPr id="5" name="Image 0" descr="preencoded.png">    </p:cNvPr>
          <p:cNvPicPr>
            <a:picLocks noChangeAspect="1"/>
          </p:cNvPicPr>
          <p:nvPr/>
        </p:nvPicPr>
        <p:blipFill>
          <a:blip r:embed="rId1"/>
          <a:stretch>
            <a:fillRect/>
          </a:stretch>
        </p:blipFill>
        <p:spPr>
          <a:xfrm>
            <a:off x="5905652" y="861365"/>
            <a:ext cx="380390" cy="380390"/>
          </a:xfrm>
          <a:prstGeom prst="rect">
            <a:avLst/>
          </a:prstGeom>
        </p:spPr>
      </p:pic>
      <p:sp>
        <p:nvSpPr>
          <p:cNvPr id="6" name="Text 3"/>
          <p:cNvSpPr/>
          <p:nvPr/>
        </p:nvSpPr>
        <p:spPr>
          <a:xfrm>
            <a:off x="822960" y="1600200"/>
            <a:ext cx="10515600" cy="82296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Questions &amp; Discussion</a:t>
            </a:r>
            <a:endParaRPr lang="en-US" sz="3600" dirty="0"/>
          </a:p>
        </p:txBody>
      </p:sp>
      <p:sp>
        <p:nvSpPr>
          <p:cNvPr id="7" name="Text 4"/>
          <p:cNvSpPr/>
          <p:nvPr/>
        </p:nvSpPr>
        <p:spPr>
          <a:xfrm>
            <a:off x="822960" y="2331720"/>
            <a:ext cx="10515600" cy="457200"/>
          </a:xfrm>
          <a:prstGeom prst="rect">
            <a:avLst/>
          </a:prstGeom>
          <a:noFill/>
          <a:ln/>
        </p:spPr>
        <p:txBody>
          <a:bodyPr wrap="square" lIns="0" tIns="0" rIns="0" bIns="0" rtlCol="0" anchor="ctr"/>
          <a:lstStyle/>
          <a:p>
            <a:pPr algn="ctr" indent="0" marL="0">
              <a:buNone/>
            </a:pPr>
            <a:r>
              <a:rPr lang="en-US" sz="1500" b="1" dirty="0">
                <a:solidFill>
                  <a:srgbClr val="E8A93A"/>
                </a:solidFill>
                <a:latin typeface="Calibri" pitchFamily="34" charset="0"/>
                <a:ea typeface="Calibri" pitchFamily="34" charset="-122"/>
                <a:cs typeface="Calibri" pitchFamily="34" charset="-120"/>
              </a:rPr>
              <a:t>15 minutes</a:t>
            </a:r>
            <a:endParaRPr lang="en-US" sz="1500" dirty="0"/>
          </a:p>
        </p:txBody>
      </p:sp>
      <p:sp>
        <p:nvSpPr>
          <p:cNvPr id="8" name="Shape 5"/>
          <p:cNvSpPr/>
          <p:nvPr/>
        </p:nvSpPr>
        <p:spPr>
          <a:xfrm>
            <a:off x="502920" y="3200400"/>
            <a:ext cx="3429000" cy="1737360"/>
          </a:xfrm>
          <a:prstGeom prst="roundRect">
            <a:avLst>
              <a:gd name="adj" fmla="val 5263"/>
            </a:avLst>
          </a:prstGeom>
          <a:solidFill>
            <a:srgbClr val="0B5E34"/>
          </a:solidFill>
          <a:ln/>
        </p:spPr>
      </p:sp>
      <p:sp>
        <p:nvSpPr>
          <p:cNvPr id="9" name="Text 6"/>
          <p:cNvSpPr/>
          <p:nvPr/>
        </p:nvSpPr>
        <p:spPr>
          <a:xfrm>
            <a:off x="704088" y="3337560"/>
            <a:ext cx="914400" cy="365760"/>
          </a:xfrm>
          <a:prstGeom prst="rect">
            <a:avLst/>
          </a:prstGeom>
          <a:noFill/>
          <a:ln/>
        </p:spPr>
        <p:txBody>
          <a:bodyPr wrap="square" lIns="0" tIns="0" rIns="0" bIns="0" rtlCol="0" anchor="ctr"/>
          <a:lstStyle/>
          <a:p>
            <a:pPr indent="0" marL="0">
              <a:buNone/>
            </a:pPr>
            <a:r>
              <a:rPr lang="en-US" sz="1600" b="1" dirty="0">
                <a:solidFill>
                  <a:srgbClr val="E8A93A"/>
                </a:solidFill>
                <a:latin typeface="Cambria" pitchFamily="34" charset="0"/>
                <a:ea typeface="Cambria" pitchFamily="34" charset="-122"/>
                <a:cs typeface="Cambria" pitchFamily="34" charset="-120"/>
              </a:rPr>
              <a:t>Q1</a:t>
            </a:r>
            <a:endParaRPr lang="en-US" sz="1600" dirty="0"/>
          </a:p>
        </p:txBody>
      </p:sp>
      <p:sp>
        <p:nvSpPr>
          <p:cNvPr id="10" name="Text 7"/>
          <p:cNvSpPr/>
          <p:nvPr/>
        </p:nvSpPr>
        <p:spPr>
          <a:xfrm>
            <a:off x="704088" y="3703320"/>
            <a:ext cx="3026664" cy="1143000"/>
          </a:xfrm>
          <a:prstGeom prst="rect">
            <a:avLst/>
          </a:prstGeom>
          <a:noFill/>
          <a:ln/>
        </p:spPr>
        <p:txBody>
          <a:bodyPr wrap="square" lIns="0" tIns="0" rIns="0" bIns="0" rtlCol="0" anchor="t"/>
          <a:lstStyle/>
          <a:p>
            <a:pPr indent="0" marL="0">
              <a:buNone/>
            </a:pPr>
            <a:r>
              <a:rPr lang="en-US" sz="1250" dirty="0">
                <a:solidFill>
                  <a:srgbClr val="F0F6F2"/>
                </a:solidFill>
                <a:latin typeface="Calibri" pitchFamily="34" charset="0"/>
                <a:ea typeface="Calibri" pitchFamily="34" charset="-122"/>
                <a:cs typeface="Calibri" pitchFamily="34" charset="-120"/>
              </a:rPr>
              <a:t>What should SMEs prioritize with limited security budgets?</a:t>
            </a:r>
            <a:endParaRPr lang="en-US" sz="1250" dirty="0"/>
          </a:p>
        </p:txBody>
      </p:sp>
      <p:sp>
        <p:nvSpPr>
          <p:cNvPr id="11" name="Shape 8"/>
          <p:cNvSpPr/>
          <p:nvPr/>
        </p:nvSpPr>
        <p:spPr>
          <a:xfrm>
            <a:off x="4160520" y="3200400"/>
            <a:ext cx="3429000" cy="1737360"/>
          </a:xfrm>
          <a:prstGeom prst="roundRect">
            <a:avLst>
              <a:gd name="adj" fmla="val 5263"/>
            </a:avLst>
          </a:prstGeom>
          <a:solidFill>
            <a:srgbClr val="0B5E34"/>
          </a:solidFill>
          <a:ln/>
        </p:spPr>
      </p:sp>
      <p:sp>
        <p:nvSpPr>
          <p:cNvPr id="12" name="Text 9"/>
          <p:cNvSpPr/>
          <p:nvPr/>
        </p:nvSpPr>
        <p:spPr>
          <a:xfrm>
            <a:off x="4361688" y="3337560"/>
            <a:ext cx="914400" cy="365760"/>
          </a:xfrm>
          <a:prstGeom prst="rect">
            <a:avLst/>
          </a:prstGeom>
          <a:noFill/>
          <a:ln/>
        </p:spPr>
        <p:txBody>
          <a:bodyPr wrap="square" lIns="0" tIns="0" rIns="0" bIns="0" rtlCol="0" anchor="ctr"/>
          <a:lstStyle/>
          <a:p>
            <a:pPr indent="0" marL="0">
              <a:buNone/>
            </a:pPr>
            <a:r>
              <a:rPr lang="en-US" sz="1600" b="1" dirty="0">
                <a:solidFill>
                  <a:srgbClr val="E8A93A"/>
                </a:solidFill>
                <a:latin typeface="Cambria" pitchFamily="34" charset="0"/>
                <a:ea typeface="Cambria" pitchFamily="34" charset="-122"/>
                <a:cs typeface="Cambria" pitchFamily="34" charset="-120"/>
              </a:rPr>
              <a:t>Q2</a:t>
            </a:r>
            <a:endParaRPr lang="en-US" sz="1600" dirty="0"/>
          </a:p>
        </p:txBody>
      </p:sp>
      <p:sp>
        <p:nvSpPr>
          <p:cNvPr id="13" name="Text 10"/>
          <p:cNvSpPr/>
          <p:nvPr/>
        </p:nvSpPr>
        <p:spPr>
          <a:xfrm>
            <a:off x="4361688" y="3703320"/>
            <a:ext cx="3026664" cy="1143000"/>
          </a:xfrm>
          <a:prstGeom prst="rect">
            <a:avLst/>
          </a:prstGeom>
          <a:noFill/>
          <a:ln/>
        </p:spPr>
        <p:txBody>
          <a:bodyPr wrap="square" lIns="0" tIns="0" rIns="0" bIns="0" rtlCol="0" anchor="t"/>
          <a:lstStyle/>
          <a:p>
            <a:pPr indent="0" marL="0">
              <a:buNone/>
            </a:pPr>
            <a:r>
              <a:rPr lang="en-US" sz="1250" dirty="0">
                <a:solidFill>
                  <a:srgbClr val="F0F6F2"/>
                </a:solidFill>
                <a:latin typeface="Calibri" pitchFamily="34" charset="0"/>
                <a:ea typeface="Calibri" pitchFamily="34" charset="-122"/>
                <a:cs typeface="Calibri" pitchFamily="34" charset="-120"/>
              </a:rPr>
              <a:t>How should the 72-hour reporting rule be operationalized?</a:t>
            </a:r>
            <a:endParaRPr lang="en-US" sz="1250" dirty="0"/>
          </a:p>
        </p:txBody>
      </p:sp>
      <p:sp>
        <p:nvSpPr>
          <p:cNvPr id="14" name="Shape 11"/>
          <p:cNvSpPr/>
          <p:nvPr/>
        </p:nvSpPr>
        <p:spPr>
          <a:xfrm>
            <a:off x="7818120" y="3200400"/>
            <a:ext cx="3429000" cy="1737360"/>
          </a:xfrm>
          <a:prstGeom prst="roundRect">
            <a:avLst>
              <a:gd name="adj" fmla="val 5263"/>
            </a:avLst>
          </a:prstGeom>
          <a:solidFill>
            <a:srgbClr val="0B5E34"/>
          </a:solidFill>
          <a:ln/>
        </p:spPr>
      </p:sp>
      <p:sp>
        <p:nvSpPr>
          <p:cNvPr id="15" name="Text 12"/>
          <p:cNvSpPr/>
          <p:nvPr/>
        </p:nvSpPr>
        <p:spPr>
          <a:xfrm>
            <a:off x="8019288" y="3337560"/>
            <a:ext cx="914400" cy="365760"/>
          </a:xfrm>
          <a:prstGeom prst="rect">
            <a:avLst/>
          </a:prstGeom>
          <a:noFill/>
          <a:ln/>
        </p:spPr>
        <p:txBody>
          <a:bodyPr wrap="square" lIns="0" tIns="0" rIns="0" bIns="0" rtlCol="0" anchor="ctr"/>
          <a:lstStyle/>
          <a:p>
            <a:pPr indent="0" marL="0">
              <a:buNone/>
            </a:pPr>
            <a:r>
              <a:rPr lang="en-US" sz="1600" b="1" dirty="0">
                <a:solidFill>
                  <a:srgbClr val="E8A93A"/>
                </a:solidFill>
                <a:latin typeface="Cambria" pitchFamily="34" charset="0"/>
                <a:ea typeface="Cambria" pitchFamily="34" charset="-122"/>
                <a:cs typeface="Cambria" pitchFamily="34" charset="-120"/>
              </a:rPr>
              <a:t>Q3</a:t>
            </a:r>
            <a:endParaRPr lang="en-US" sz="1600" dirty="0"/>
          </a:p>
        </p:txBody>
      </p:sp>
      <p:sp>
        <p:nvSpPr>
          <p:cNvPr id="16" name="Text 13"/>
          <p:cNvSpPr/>
          <p:nvPr/>
        </p:nvSpPr>
        <p:spPr>
          <a:xfrm>
            <a:off x="8019288" y="3703320"/>
            <a:ext cx="3026664" cy="1143000"/>
          </a:xfrm>
          <a:prstGeom prst="rect">
            <a:avLst/>
          </a:prstGeom>
          <a:noFill/>
          <a:ln/>
        </p:spPr>
        <p:txBody>
          <a:bodyPr wrap="square" lIns="0" tIns="0" rIns="0" bIns="0" rtlCol="0" anchor="t"/>
          <a:lstStyle/>
          <a:p>
            <a:pPr indent="0" marL="0">
              <a:buNone/>
            </a:pPr>
            <a:r>
              <a:rPr lang="en-US" sz="1250" dirty="0">
                <a:solidFill>
                  <a:srgbClr val="F0F6F2"/>
                </a:solidFill>
                <a:latin typeface="Calibri" pitchFamily="34" charset="0"/>
                <a:ea typeface="Calibri" pitchFamily="34" charset="-122"/>
                <a:cs typeface="Calibri" pitchFamily="34" charset="-120"/>
              </a:rPr>
              <a:t>What’s the realistic path to closing the talent gap?</a:t>
            </a:r>
            <a:endParaRPr lang="en-US" sz="1250" dirty="0"/>
          </a:p>
        </p:txBody>
      </p:sp>
      <p:sp>
        <p:nvSpPr>
          <p:cNvPr id="17" name="Text 14"/>
          <p:cNvSpPr/>
          <p:nvPr/>
        </p:nvSpPr>
        <p:spPr>
          <a:xfrm>
            <a:off x="822960" y="5257800"/>
            <a:ext cx="10515600" cy="457200"/>
          </a:xfrm>
          <a:prstGeom prst="rect">
            <a:avLst/>
          </a:prstGeom>
          <a:noFill/>
          <a:ln/>
        </p:spPr>
        <p:txBody>
          <a:bodyPr wrap="square" lIns="0" tIns="0" rIns="0" bIns="0" rtlCol="0" anchor="ctr"/>
          <a:lstStyle/>
          <a:p>
            <a:pPr algn="ctr" indent="0" marL="0">
              <a:buNone/>
            </a:pPr>
            <a:r>
              <a:rPr lang="en-US" sz="1600" i="1" dirty="0">
                <a:solidFill>
                  <a:srgbClr val="CFE3D8"/>
                </a:solidFill>
                <a:latin typeface="Cambria" pitchFamily="34" charset="0"/>
                <a:ea typeface="Cambria" pitchFamily="34" charset="-122"/>
                <a:cs typeface="Cambria" pitchFamily="34" charset="-120"/>
              </a:rPr>
              <a:t>Thank you.</a:t>
            </a:r>
            <a:endParaRPr lang="en-US" sz="1600" dirty="0"/>
          </a:p>
        </p:txBody>
      </p:sp>
      <p:sp>
        <p:nvSpPr>
          <p:cNvPr id="18" name="Text 15"/>
          <p:cNvSpPr/>
          <p:nvPr/>
        </p:nvSpPr>
        <p:spPr>
          <a:xfrm>
            <a:off x="11368735" y="6446520"/>
            <a:ext cx="457200" cy="274320"/>
          </a:xfrm>
          <a:prstGeom prst="rect">
            <a:avLst/>
          </a:prstGeom>
          <a:noFill/>
          <a:ln/>
        </p:spPr>
        <p:txBody>
          <a:bodyPr wrap="square" lIns="0" tIns="0" rIns="0" bIns="0" rtlCol="0" anchor="ctr"/>
          <a:lstStyle/>
          <a:p>
            <a:pPr algn="r" indent="0" marL="0">
              <a:buNone/>
            </a:pPr>
            <a:r>
              <a:rPr lang="en-US" sz="1000" dirty="0">
                <a:solidFill>
                  <a:srgbClr val="BFD8C9"/>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Trends in Nigeria</dc:title>
  <dc:subject>PptxGenJS Presentation</dc:subject>
  <dc:creator>Cybersecurity Briefing</dc:creator>
  <cp:lastModifiedBy>Cybersecurity Briefing</cp:lastModifiedBy>
  <cp:revision>1</cp:revision>
  <dcterms:created xsi:type="dcterms:W3CDTF">2026-08-18T14:20:32Z</dcterms:created>
  <dcterms:modified xsi:type="dcterms:W3CDTF">2026-08-18T14:20:32Z</dcterms:modified>
</cp:coreProperties>
</file>